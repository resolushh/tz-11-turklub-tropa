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8626d417f1488b" /><Relationship Type="http://schemas.openxmlformats.org/officeDocument/2006/relationships/extended-properties" Target="/docProps/app.xml" Id="Rb40d36c664e84574" /><Relationship Type="http://schemas.openxmlformats.org/officeDocument/2006/relationships/officeDocument" Target="/ppt/presentation.xml" Id="R67c6e5c25271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cd06b58e9e4849"/>
  </p:sldMasterIdLst>
  <p:notesMasterIdLst>
    <p:notesMasterId xmlns:r="http://schemas.openxmlformats.org/officeDocument/2006/relationships" r:id="Rf85e11e6d2bd49bf"/>
  </p:notesMasterIdLst>
  <p:sldIdLst>
    <p:sldId xmlns:r="http://schemas.openxmlformats.org/officeDocument/2006/relationships" id="256" r:id="R363362e79c684e83"/>
    <p:sldId xmlns:r="http://schemas.openxmlformats.org/officeDocument/2006/relationships" id="257" r:id="R5e10a14658db41bc"/>
    <p:sldId xmlns:r="http://schemas.openxmlformats.org/officeDocument/2006/relationships" id="258" r:id="Ra29593b6eb334d7a"/>
    <p:sldId xmlns:r="http://schemas.openxmlformats.org/officeDocument/2006/relationships" id="259" r:id="R14a9179fc14f4fd9"/>
    <p:sldId xmlns:r="http://schemas.openxmlformats.org/officeDocument/2006/relationships" id="260" r:id="R62076003afd24159"/>
    <p:sldId xmlns:r="http://schemas.openxmlformats.org/officeDocument/2006/relationships" id="261" r:id="R75777c19a1e04387"/>
    <p:sldId xmlns:r="http://schemas.openxmlformats.org/officeDocument/2006/relationships" id="262" r:id="R4839ed49219f4ef7"/>
    <p:sldId xmlns:r="http://schemas.openxmlformats.org/officeDocument/2006/relationships" id="263" r:id="R5805248324da4a6b"/>
    <p:sldId xmlns:r="http://schemas.openxmlformats.org/officeDocument/2006/relationships" id="264" r:id="R2465f64724ac47fc"/>
    <p:sldId xmlns:r="http://schemas.openxmlformats.org/officeDocument/2006/relationships" id="265" r:id="R5edfcead6ca64aea"/>
    <p:sldId xmlns:r="http://schemas.openxmlformats.org/officeDocument/2006/relationships" id="266" r:id="Raacd183b67994ea1"/>
    <p:sldId xmlns:r="http://schemas.openxmlformats.org/officeDocument/2006/relationships" id="267" r:id="R64d80aa9afe84c9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8699ade334552" /><Relationship Type="http://schemas.openxmlformats.org/officeDocument/2006/relationships/slideMaster" Target="/ppt/slideMasters/slideMaster1.xml" Id="Ra8cd06b58e9e4849" /><Relationship Type="http://schemas.openxmlformats.org/officeDocument/2006/relationships/notesMaster" Target="/ppt/notesMasters/notesMaster1.xml" Id="Rf85e11e6d2bd49bf" /><Relationship Type="http://schemas.openxmlformats.org/officeDocument/2006/relationships/presProps" Target="/ppt/presProps.xml" Id="R1268d5d2f4ac461c" /><Relationship Type="http://schemas.openxmlformats.org/officeDocument/2006/relationships/tableStyles" Target="/ppt/tableStyles.xml" Id="Rd5c736d70c194bf6" /><Relationship Type="http://schemas.openxmlformats.org/officeDocument/2006/relationships/slide" Target="/ppt/slides/slide1.xml" Id="R363362e79c684e83" /><Relationship Type="http://schemas.openxmlformats.org/officeDocument/2006/relationships/slide" Target="/ppt/slides/slide2.xml" Id="R5e10a14658db41bc" /><Relationship Type="http://schemas.openxmlformats.org/officeDocument/2006/relationships/slide" Target="/ppt/slides/slide3.xml" Id="Ra29593b6eb334d7a" /><Relationship Type="http://schemas.openxmlformats.org/officeDocument/2006/relationships/slide" Target="/ppt/slides/slide4.xml" Id="R14a9179fc14f4fd9" /><Relationship Type="http://schemas.openxmlformats.org/officeDocument/2006/relationships/slide" Target="/ppt/slides/slide5.xml" Id="R62076003afd24159" /><Relationship Type="http://schemas.openxmlformats.org/officeDocument/2006/relationships/slide" Target="/ppt/slides/slide6.xml" Id="R75777c19a1e04387" /><Relationship Type="http://schemas.openxmlformats.org/officeDocument/2006/relationships/slide" Target="/ppt/slides/slide7.xml" Id="R4839ed49219f4ef7" /><Relationship Type="http://schemas.openxmlformats.org/officeDocument/2006/relationships/slide" Target="/ppt/slides/slide8.xml" Id="R5805248324da4a6b" /><Relationship Type="http://schemas.openxmlformats.org/officeDocument/2006/relationships/slide" Target="/ppt/slides/slide9.xml" Id="R2465f64724ac47fc" /><Relationship Type="http://schemas.openxmlformats.org/officeDocument/2006/relationships/slide" Target="/ppt/slides/slide10.xml" Id="R5edfcead6ca64aea" /><Relationship Type="http://schemas.openxmlformats.org/officeDocument/2006/relationships/slide" Target="/ppt/slides/slide11.xml" Id="Raacd183b67994ea1" /><Relationship Type="http://schemas.openxmlformats.org/officeDocument/2006/relationships/slide" Target="/ppt/slides/slide12.xml" Id="R64d80aa9afe8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adb8c7c919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9c4f7ef5c1464c" /><Relationship Type="http://schemas.openxmlformats.org/officeDocument/2006/relationships/notesMaster" Target="/ppt/notesMasters/notesMaster1.xml" Id="Rf24ff7810a1d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e539068be4c94" /><Relationship Type="http://schemas.openxmlformats.org/officeDocument/2006/relationships/notesMaster" Target="/ppt/notesMasters/notesMaster1.xml" Id="Rca8ca3511a224c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187f4b51d4a67" /><Relationship Type="http://schemas.openxmlformats.org/officeDocument/2006/relationships/notesMaster" Target="/ppt/notesMasters/notesMaster1.xml" Id="R815cc416bb2146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3e4c18e22446a" /><Relationship Type="http://schemas.openxmlformats.org/officeDocument/2006/relationships/notesMaster" Target="/ppt/notesMasters/notesMaster1.xml" Id="R0fe57bc643c844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586fe2786746eb" /><Relationship Type="http://schemas.openxmlformats.org/officeDocument/2006/relationships/notesMaster" Target="/ppt/notesMasters/notesMaster1.xml" Id="R9c56c2cb7c244d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8aee114a7949c5" /><Relationship Type="http://schemas.openxmlformats.org/officeDocument/2006/relationships/notesMaster" Target="/ppt/notesMasters/notesMaster1.xml" Id="R13ccd5c6efed4c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ca041785bf417e" /><Relationship Type="http://schemas.openxmlformats.org/officeDocument/2006/relationships/notesMaster" Target="/ppt/notesMasters/notesMaster1.xml" Id="R6a6d51b2b0e9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fdb938bba84dd2" /><Relationship Type="http://schemas.openxmlformats.org/officeDocument/2006/relationships/notesMaster" Target="/ppt/notesMasters/notesMaster1.xml" Id="R473311725c734d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86e94708b34b65" /><Relationship Type="http://schemas.openxmlformats.org/officeDocument/2006/relationships/notesMaster" Target="/ppt/notesMasters/notesMaster1.xml" Id="R56e2ed27e83a4a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a890def244823" /><Relationship Type="http://schemas.openxmlformats.org/officeDocument/2006/relationships/notesMaster" Target="/ppt/notesMasters/notesMaster1.xml" Id="Rb59a49b80b2c44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a47e9b57c84a1b" /><Relationship Type="http://schemas.openxmlformats.org/officeDocument/2006/relationships/notesMaster" Target="/ppt/notesMasters/notesMaster1.xml" Id="R17b980c79c01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4c7d374f7540e2" /><Relationship Type="http://schemas.openxmlformats.org/officeDocument/2006/relationships/notesMaster" Target="/ppt/notesMasters/notesMaster1.xml" Id="Rb86c1e4f6a0e47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Мой проект посвящён турклубу «Тропа». Я разработал сайт зимних походов и связал его с учётом заявок и аналитикой. Покажу сам продукт и подтверждённый путь посетителя до бронирования.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https://github.com/Resolushh/tz-11-turklub-tropa/blob/main/docs/opisanie.md</a:t>
            </a:r>
          </a:p>
          <a:p xmlns:a="http://schemas.openxmlformats.org/drawingml/2006/main">
            <a:r>
              <a:t>https://github.com/Resolushh/tz-11-turklub-tropa/blob/main/img/brand/SOURCE.md</a:t>
            </a:r>
          </a:p>
          <a:p xmlns:a="http://schemas.openxmlformats.org/drawingml/2006/main">
            <a:r>
              <a:t>https://www.pexels.com/photo/majestic-snowy-mountains-at-sunrise-31348071/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письму заказчика, в сентябре 58 человек написали в группы без свободных мест и не получили альтернативную дату. Зимой клуб запускает шесть маршрутов. Новички также часто спрашивают о снаряжении. Поэтому нужны понятный выбор маршрута и даты, расчёт аренды и единый учёт обращений. Эти числа описывают учебный кейс, а не результаты моей работы.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ТЗ-11/2026, страницы 2–3</a:t>
            </a:r>
          </a:p>
          <a:p xmlns:a="http://schemas.openxmlformats.org/drawingml/2006/main">
            <a:r>
              <a:t>https://github.com/Resolushh/tz-11-turklub-tropa/blob/main/docs/route-photos.md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Посетитель приходит по ссылке с UTM из социальной сети или по QR. В Instagram комментарий запускает ManyChat, который отправляет кнопку на нужную страницу. Сайт передаёт действия в GA4, а форму отправляет в Apps Script. Скрипт проверяет данные и записывает заявку в Google Таблицу. Здесь показаны сервисы, которые действительно использует проект.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https://github.com/Resolushh/tz-11-turklub-tropa/blob/main/docs/scheme.png</a:t>
            </a:r>
          </a:p>
          <a:p xmlns:a="http://schemas.openxmlformats.org/drawingml/2006/main">
            <a:r>
              <a:t>https://github.com/Resolushh/tz-11-turklub-tropa/blob/main/docs/setup.md</a:t>
            </a:r>
          </a:p>
          <a:p xmlns:a="http://schemas.openxmlformats.org/drawingml/2006/main">
            <a:r>
              <a:t>https://github.com/Resolushh/tz-11-turklub-tropa/blob/main/docs/decisions.md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Сайт включает восемь основных страниц и страницу ошибки. Пользователь выбирает один из шести маршрутов, дату выезда и число участников. Есть фильтры, калькулятор аренды, чек-лист и промокод SNOW300. Для дизайна использовал логотип с двумя вершинами, фотографии на всю ширину и светлый фон. Проверил адаптивность. Мобильный замер Lighthouse дал 72 за производительность и по 100 за доступность, рекомендации и SEO.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https://github.com/Resolushh/tz-11-turklub-tropa/blob/main/docs/design-published.md</a:t>
            </a:r>
          </a:p>
          <a:p xmlns:a="http://schemas.openxmlformats.org/drawingml/2006/main">
            <a:r>
              <a:t>https://github.com/Resolushh/tz-11-turklub-tropa/blob/main/screens/lighthouse/mobile-2026-10-29.png</a:t>
            </a:r>
          </a:p>
          <a:p xmlns:a="http://schemas.openxmlformats.org/drawingml/2006/main">
            <a:r>
              <a:t>https://github.com/Resolushh/tz-11-turklub-tropa/blob/main/docs/demo-data.md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Форма на слайде показана на отдельном учебном примере без отправки. Выдержка leads и кадр Realtime относятся к ранее подтверждённой заявке из Instagram. В таблице сохранились источник instagram, канал social, кампания winter_trips_2026 и содержание reel_tent_01. Номер заявки начинается с REQ-478ab710. Запись создана 30 октября в 01:11:32. Отдельный кадр Realtime показывает generate_lead, а параметр lead_source содержит instagram. Строка в таблице подтверждает серверную запись, событие подтверждает поступление браузерной команды в GA4.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https://github.com/Resolushh/tz-11-turklub-tropa/blob/main/docs/manychat.md</a:t>
            </a:r>
          </a:p>
          <a:p xmlns:a="http://schemas.openxmlformats.org/drawingml/2006/main">
            <a:r>
              <a:t>https://github.com/Resolushh/tz-11-turklub-tropa/blob/main/docs/reports/reconciliation-2026-10-30.md</a:t>
            </a:r>
          </a:p>
          <a:p xmlns:a="http://schemas.openxmlformats.org/drawingml/2006/main">
            <a:r>
              <a:t>Заявка REQ-478ab710-1a45-439c-bd01-6b63fe04ebd8</a:t>
            </a:r>
          </a:p>
          <a:p xmlns:a="http://schemas.openxmlformats.org/drawingml/2006/main">
            <a:r>
              <a:t>Скриншоты пользователя c1911570 и c22cceac, 30.10.2026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 опубликованным Reel работают две ветки ManyChat. Слово СНАРЯГА отправляет чек-лист и калькулятор аренды. Слово НОВИЧОК ведёт к трём лёгким маршрутам. Для обеих веток подтверждены комментарий, личное сообщение и переход на сайт. Кнопки используют разные UTM-кампании. Полный путь до заявки отдельно проверен для СНАРЯГА. Для НОВИЧОК подтверждение заканчивается страницей маршрутов.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https://github.com/Resolushh/tz-11-turklub-tropa/blob/main/docs/manychat.md</a:t>
            </a:r>
          </a:p>
          <a:p xmlns:a="http://schemas.openxmlformats.org/drawingml/2006/main">
            <a:r>
              <a:t>https://www.instagram.com/reel/DfFy1SzKrMz/</a:t>
            </a:r>
          </a:p>
          <a:p xmlns:a="http://schemas.openxmlformats.org/drawingml/2006/main">
            <a:r>
              <a:t>https://github.com/Resolushh/tz-11-turklub-tropa/blob/main/screens/instagram/comment-replies.png</a:t>
            </a:r>
          </a:p>
          <a:p xmlns:a="http://schemas.openxmlformats.org/drawingml/2006/main">
            <a:r>
              <a:t>https://github.com/Resolushh/tz-11-turklub-tropa/blob/main/screens/instagram/dm-gear.png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последнем сохранённом обработанном отчёте за 27–30 октября указано 17 сеансов. Instagram и прямой трафик имеют по семь сеансов, QR магазина — два. Я не подгонял строки под итог: в отчёте есть not set и внутридневная несогласованность. По совокупности проверок подтверждены 20 имён событий и семь специальных параметров. Ключевые события проекта — generate_lead, contact_click и messenger_click.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https://github.com/Resolushh/tz-11-turklub-tropa/blob/main/docs/report.md</a:t>
            </a:r>
          </a:p>
          <a:p xmlns:a="http://schemas.openxmlformats.org/drawingml/2006/main">
            <a:r>
              <a:t>https://github.com/Resolushh/tz-11-turklub-tropa/blob/main/docs/events.md</a:t>
            </a:r>
          </a:p>
          <a:p xmlns:a="http://schemas.openxmlformats.org/drawingml/2006/main">
            <a:r>
              <a:t>https://github.com/Resolushh/tz-11-turklub-tropa/blob/main/docs/proofs/final-check-2026-10-30/reconciliation-report-2026-10-30.png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сохранённой воронке за 27–29 октября один Instagram-пользователь прошёл все пять шагов: просмотр, фильтр, кнопка, начало формы и заявка. У Direct три пользователя на первом шаге и ни одного на фильтре. Это не доказывает отказ: посетитель мог открыть форму напрямую. Моя гипотеза — дополнительно сравнить короткую воронку просмотра, начала формы и заявки на новых тестовых сеансах. По одному тесту делать вывод об эффективности канала нельзя.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https://github.com/Resolushh/tz-11-turklub-tropa/blob/main/docs/report.md</a:t>
            </a:r>
          </a:p>
          <a:p xmlns:a="http://schemas.openxmlformats.org/drawingml/2006/main">
            <a:r>
              <a:t>https://github.com/Resolushh/tz-11-turklub-tropa/blob/main/docs/proofs/ga4-refresh-2026-10-29/funnel-open.png</a:t>
            </a:r>
          </a:p>
          <a:p xmlns:a="http://schemas.openxmlformats.org/drawingml/2006/main">
            <a:r>
              <a:t>https://github.com/Resolushh/tz-11-turklub-tropa/blob/main/docs/reports/paths-2026-10-29.pdf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последней прочитанной таблице 11 записей, включая учебные QA-проверки. В обработанном отчёте GA4 сохранены три generate_lead. Эти значения нельзя объявлять совпавшими. Два свежих события проверяли отдельно в Realtime, затем добавили тест доставки. Я исправил завершение формы и добавил ограниченное ожидание обработки события перед переходом. Это уменьшает риск обрыва команды, но блокировки и задержки всё равно возможны. Исторические события задним числом не восстанавливал.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https://github.com/Resolushh/tz-11-turklub-tropa/blob/main/docs/reports/reconciliation-2026-10-30.md</a:t>
            </a:r>
          </a:p>
          <a:p xmlns:a="http://schemas.openxmlformats.org/drawingml/2006/main">
            <a:r>
              <a:t>https://github.com/Resolushh/tz-11-turklub-tropa/blob/main/docs/reports/lead-delivery-fix-2026-10-30.md</a:t>
            </a:r>
          </a:p>
          <a:p xmlns:a="http://schemas.openxmlformats.org/drawingml/2006/main">
            <a:r>
              <a:t>https://github.com/Resolushh/tz-11-turklub-tropa/blob/main/docs/report.md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Результат проекта — готовые инструменты для выбора похода и обработки обращений. Календарь помогает увидеть другие даты. Таблица хранит маршрут, участников, источник и статус. Чек-лист и калькулятор снимают часть повторяющихся вопросов о снаряжении. Следующая рекомендация — провести новые независимые тесты короткой воронки и отдельно проверить доставку событий. Рост продаж и снижение потерь я не заявляю: реальных продаж в учебном проекте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https://github.com/Resolushh/tz-11-turklub-tropa/blob/main/docs/opisanie.md</a:t>
            </a:r>
          </a:p>
          <a:p xmlns:a="http://schemas.openxmlformats.org/drawingml/2006/main">
            <a:r>
              <a:t>https://github.com/Resolushh/tz-11-turklub-tropa/blob/main/docs/report.md</a:t>
            </a:r>
          </a:p>
          <a:p xmlns:a="http://schemas.openxmlformats.org/drawingml/2006/main">
            <a:r>
              <a:t>https://github.com/Resolushh/tz-11-turklub-tropa/blob/main/docs/route-photos.md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ИИ помогал с вёрсткой, кодом, формулами и документацией. В ходе проверок пришлось исправить формат телефона, нативное завершение формы и ожидание события перед переходом. Журнал основных запросов сохранён. Из ограничений осталось точное оповещение по Session source: доступный конструктор предлагает источник первого привлечения, поэтому я не подменял условие другим. Отдельно документировано историческое расхождение заявок и событий.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https://github.com/Resolushh/tz-11-turklub-tropa/blob/main/docs/prompts.md</a:t>
            </a:r>
          </a:p>
          <a:p xmlns:a="http://schemas.openxmlformats.org/drawingml/2006/main">
            <a:r>
              <a:t>https://github.com/Resolushh/tz-11-turklub-tropa/blob/main/docs/reports/custom-insight-limitation-2026-10-30.md</a:t>
            </a:r>
          </a:p>
          <a:p xmlns:a="http://schemas.openxmlformats.org/drawingml/2006/main">
            <a:r>
              <a:t>https://github.com/Resolushh/tz-11-turklub-tropa/blob/main/docs/reports/lead-delivery-fix-2026-10-30.md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QR открывается репозиторий с сайтом, исходниками и доказательствами проверок. Спасибо за внимание. Готов показать путь заявки и ответить на вопросы по реализации.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https://github.com/Resolushh/tz-11-turklub-tropa</a:t>
            </a:r>
          </a:p>
          <a:p xmlns:a="http://schemas.openxmlformats.org/drawingml/2006/main">
            <a:r>
              <a:t>https://github.com/Resolushh/tz-11-turklub-tropa/blob/main/docs/verification.md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Новая редакция 30.10.2026. Снимки актуального сайта: https://tz-11-turklub-tropa-phi.vercel.app/ . Учебная форма на слайде 5 не отправлялась.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a4c5830a347a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a96eddeb514e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6a72248234f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8ebde50bb46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d7ac92c1641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1d8932ebc4f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912890-2F65-411A-A1E0-683687952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59446D-D601-4466-83D8-9C165ACA5C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431D7C-32FF-4CE4-B362-23457569A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819F70-684A-4B7D-9E20-C94B53F27C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308A61-C249-41C7-898B-28684E7C52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CDE96D-85D9-4425-9E77-6D482166A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342F6C-EC3F-4224-AEEC-72F89EF359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3E4B0E-66D1-4234-9310-45A26CF32D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D5FBDE-054A-4105-9B90-9F1EB2E4F1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3CC10F-9097-4B77-942F-A6EA647F1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7646177ad4c76" /><Relationship Type="http://schemas.openxmlformats.org/officeDocument/2006/relationships/slideLayout" Target="/ppt/slideLayouts/slideLayout1.xml" Id="R96469f3e33804f42" /><Relationship Type="http://schemas.openxmlformats.org/officeDocument/2006/relationships/slideLayout" Target="/ppt/slideLayouts/slideLayout2.xml" Id="Rc13b848a57ca49b4" /><Relationship Type="http://schemas.openxmlformats.org/officeDocument/2006/relationships/slideLayout" Target="/ppt/slideLayouts/slideLayout3.xml" Id="R4bb05b0a4d174466" /><Relationship Type="http://schemas.openxmlformats.org/officeDocument/2006/relationships/slideLayout" Target="/ppt/slideLayouts/slideLayout4.xml" Id="R373f658a22594c7f" /><Relationship Type="http://schemas.openxmlformats.org/officeDocument/2006/relationships/slideLayout" Target="/ppt/slideLayouts/slideLayout5.xml" Id="R6b88e0086ae14cfa" /><Relationship Type="http://schemas.openxmlformats.org/officeDocument/2006/relationships/slideLayout" Target="/ppt/slideLayouts/slideLayout6.xml" Id="R48b55f485b964c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469f3e33804f42"/>
    <p:sldLayoutId xmlns:r="http://schemas.openxmlformats.org/officeDocument/2006/relationships" id="2147483650" r:id="Rc13b848a57ca49b4"/>
    <p:sldLayoutId xmlns:r="http://schemas.openxmlformats.org/officeDocument/2006/relationships" id="2147483651" r:id="R4bb05b0a4d174466"/>
    <p:sldLayoutId xmlns:r="http://schemas.openxmlformats.org/officeDocument/2006/relationships" id="2147483652" r:id="R373f658a22594c7f"/>
    <p:sldLayoutId xmlns:r="http://schemas.openxmlformats.org/officeDocument/2006/relationships" id="2147483653" r:id="R6b88e0086ae14cfa"/>
    <p:sldLayoutId xmlns:r="http://schemas.openxmlformats.org/officeDocument/2006/relationships" id="2147483654" r:id="R48b55f485b964c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b2348e46442dc" /><Relationship Type="http://schemas.openxmlformats.org/officeDocument/2006/relationships/image" Target="/ppt/media/image.jpeg" Id="R9ae2c739482d4a92" /><Relationship Type="http://schemas.openxmlformats.org/officeDocument/2006/relationships/image" Target="/ppt/media/image.png" Id="Rb04e1e8c32d74764" /><Relationship Type="http://schemas.openxmlformats.org/officeDocument/2006/relationships/notesSlide" Target="/ppt/notesSlides/notesSlide1.xml" Id="R3d9a189ba4734e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61ab44c14a4155" /><Relationship Type="http://schemas.openxmlformats.org/officeDocument/2006/relationships/image" Target="/ppt/media/image2.jpeg" Id="Rd58600054d7c4ac7" /><Relationship Type="http://schemas.openxmlformats.org/officeDocument/2006/relationships/notesSlide" Target="/ppt/notesSlides/notesSlide2.xml" Id="R739c20a4947f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e34feeb69439d" /><Relationship Type="http://schemas.openxmlformats.org/officeDocument/2006/relationships/notesSlide" Target="/ppt/notesSlides/notesSlide3.xml" Id="Re40c379db7a943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60982b39984613" /><Relationship Type="http://schemas.openxmlformats.org/officeDocument/2006/relationships/image" Target="/ppt/media/image3.jpeg" Id="R2baacea75515449b" /><Relationship Type="http://schemas.openxmlformats.org/officeDocument/2006/relationships/image" Target="/ppt/media/image4.jpeg" Id="R0234bdb451fb4730" /><Relationship Type="http://schemas.openxmlformats.org/officeDocument/2006/relationships/image" Target="/ppt/media/image2.png" Id="Rde936985f6b046eb" /><Relationship Type="http://schemas.openxmlformats.org/officeDocument/2006/relationships/notesSlide" Target="/ppt/notesSlides/notesSlide4.xml" Id="R3a54df96f0dc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ed3216d2d4dca" /><Relationship Type="http://schemas.openxmlformats.org/officeDocument/2006/relationships/image" Target="/ppt/media/image3.png" Id="Rebe8edf950f74456" /><Relationship Type="http://schemas.openxmlformats.org/officeDocument/2006/relationships/image" Target="/ppt/media/image4.png" Id="Ref4c3d70103f4fe3" /><Relationship Type="http://schemas.openxmlformats.org/officeDocument/2006/relationships/notesSlide" Target="/ppt/notesSlides/notesSlide5.xml" Id="Rcff3eeb094d042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17d15809a4b38" /><Relationship Type="http://schemas.openxmlformats.org/officeDocument/2006/relationships/image" Target="/ppt/media/image5.png" Id="R84bf243096a347dc" /><Relationship Type="http://schemas.openxmlformats.org/officeDocument/2006/relationships/image" Target="/ppt/media/image6.png" Id="R4589b409df654dbe" /><Relationship Type="http://schemas.openxmlformats.org/officeDocument/2006/relationships/image" Target="/ppt/media/image7.png" Id="R03f9956b4a0043fa" /><Relationship Type="http://schemas.openxmlformats.org/officeDocument/2006/relationships/notesSlide" Target="/ppt/notesSlides/notesSlide6.xml" Id="Rb197c1a6f1bb46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75681c37ca4618" /><Relationship Type="http://schemas.openxmlformats.org/officeDocument/2006/relationships/chart" Target="/ppt/slides/charts/chart1.xml" Id="R31ed8b6adb9a4c0b" /><Relationship Type="http://schemas.openxmlformats.org/officeDocument/2006/relationships/notesSlide" Target="/ppt/notesSlides/notesSlide7.xml" Id="R0eb73ff28a7149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c4794105494c40" /><Relationship Type="http://schemas.openxmlformats.org/officeDocument/2006/relationships/image" Target="/ppt/media/image8.png" Id="R9246b6cc6d944706" /><Relationship Type="http://schemas.openxmlformats.org/officeDocument/2006/relationships/notesSlide" Target="/ppt/notesSlides/notesSlide8.xml" Id="R1576cbe91db8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a2dccd14d4296" /><Relationship Type="http://schemas.openxmlformats.org/officeDocument/2006/relationships/notesSlide" Target="/ppt/notesSlides/notesSlide9.xml" Id="Red6a349975c94b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2e3a025674784" /><Relationship Type="http://schemas.openxmlformats.org/officeDocument/2006/relationships/notesSlide" Target="/ppt/notesSlides/notesSlide10.xml" Id="Rbcc6f138f37b4f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95e7a923c34fe3" /><Relationship Type="http://schemas.openxmlformats.org/officeDocument/2006/relationships/image" Target="/ppt/media/image9.png" Id="Rcd5ae689926e441a" /><Relationship Type="http://schemas.openxmlformats.org/officeDocument/2006/relationships/notesSlide" Target="/ppt/notesSlides/notesSlide11.xml" Id="Re2d706f9030644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d7f9110414598" /><Relationship Type="http://schemas.openxmlformats.org/officeDocument/2006/relationships/image" Target="/ppt/media/image10.png" Id="R424c520f901545d3" /><Relationship Type="http://schemas.openxmlformats.org/officeDocument/2006/relationships/hyperlink" Target="https://tz-11-turklub-tropa-phi.vercel.app/" TargetMode="External" Id="R665dcaf7cd7f4c20" /><Relationship Type="http://schemas.openxmlformats.org/officeDocument/2006/relationships/hyperlink" Target="https://github.com/Resolushh/tz-11-turklub-tropa" TargetMode="External" Id="Ra87a2c260fae41af" /><Relationship Type="http://schemas.openxmlformats.org/officeDocument/2006/relationships/hyperlink" Target="https://github.com/Resolushh/tz-11-turklub-tropa/blob/main/presentation/speaker-notes.md" TargetMode="External" Id="R31222055e39045ec" /><Relationship Type="http://schemas.openxmlformats.org/officeDocument/2006/relationships/image" Target="/ppt/media/image11.png" Id="Rea056b5864d8423a" /><Relationship Type="http://schemas.openxmlformats.org/officeDocument/2006/relationships/notesSlide" Target="/ppt/notesSlides/notesSlide12.xml" Id="R4cdea34162d449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Сеансы</c:v>
          </c:tx>
          <c:spPr>
            <a:solidFill xmlns:a="http://schemas.openxmlformats.org/drawingml/2006/main">
              <a:srgbClr val="193B3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Instagram</c:v>
                </c:pt>
                <c:pt idx="1">
                  <c:v>Direct</c:v>
                </c:pt>
                <c:pt idx="2">
                  <c:v>QR магазина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</c:v>
                </c:pt>
                <c:pt idx="1">
                  <c:v>7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v>generate_lead</c:v>
          </c:tx>
          <c:spPr>
            <a:solidFill xmlns:a="http://schemas.openxmlformats.org/drawingml/2006/main">
              <a:srgbClr val="EAB64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Instagram</c:v>
                </c:pt>
                <c:pt idx="1">
                  <c:v>Direct</c:v>
                </c:pt>
                <c:pt idx="2">
                  <c:v>QR магазина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latin typeface="Georgia"/>
                  <a:ea typeface="Georgia"/>
                  <a:cs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FD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66666"/>
                </a:solidFill>
                <a:latin typeface="Georgia"/>
                <a:ea typeface="Georgia"/>
                <a:cs typeface="Georgia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latin typeface="Georgia"/>
              <a:ea typeface="Georgia"/>
              <a:cs typeface="Georgia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7D024-94BA-4A11-88C4-0D2F28AA8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2c739482d4a92"/>
          <a:srcRect xmlns:a="http://schemas.openxmlformats.org/drawingml/2006/main" l="0" t="7797" r="0" b="7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Затемнение фотографии">
            <a:extLst xmlns:a="http://schemas.openxmlformats.org/drawingml/2006/main">
              <a:ext uri="{FF2B5EF4-FFF2-40B4-BE49-F238E27FC236}">
                <a16:creationId xmlns:a16="http://schemas.microsoft.com/office/drawing/2014/main" id="{6C01ADE5-A4F6-4A47-BD07-367AA290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3A">
              <a:alpha val="58000"/>
            </a:srgbClr>
          </a:solidFill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120C6-7B41-47D3-BB07-CF1CC9AAF5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e1e8c32d74764"/>
          <a:stretch xmlns:a="http://schemas.openxmlformats.org/drawingml/2006/main"/>
        </p:blipFill>
        <p:spPr>
          <a:xfrm xmlns:a="http://schemas.openxmlformats.org/drawingml/2006/main">
            <a:off x="685800" y="526428"/>
            <a:ext cx="3190875" cy="814043"/>
          </a:xfrm>
          <a:prstGeom xmlns:a="http://schemas.openxmlformats.org/drawingml/2006/main" prst="rect">
            <a:avLst/>
          </a:prstGeom>
        </p:spPr>
      </p:pic>
      <p:sp>
        <p:nvSpPr>
          <p:cNvPr id="4" name="Сайт и аналитика&#10;зимних походов">
            <a:extLst xmlns:a="http://schemas.openxmlformats.org/drawingml/2006/main">
              <a:ext uri="{FF2B5EF4-FFF2-40B4-BE49-F238E27FC236}">
                <a16:creationId xmlns:a16="http://schemas.microsoft.com/office/drawing/2014/main" id="{E4D25AAE-36FF-4CC3-979D-127D07C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323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6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Сайт и аналитика</a:t>
            </a:r>
          </a:p>
          <a:p xmlns:a="http://schemas.openxmlformats.org/drawingml/2006/main">
            <a:pPr algn="l">
              <a:defRPr sz="66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6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зимних походов</a:t>
            </a:r>
          </a:p>
        </p:txBody>
      </p:sp>
      <p:sp>
        <p:nvSpPr>
          <p:cNvPr id="5" name="Курсовая работа по ТЗ-11/2026">
            <a:extLst xmlns:a="http://schemas.openxmlformats.org/drawingml/2006/main">
              <a:ext uri="{FF2B5EF4-FFF2-40B4-BE49-F238E27FC236}">
                <a16:creationId xmlns:a16="http://schemas.microsoft.com/office/drawing/2014/main" id="{CC26B419-F312-4E6D-8139-21CD32E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238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Курсовая работа по ТЗ-11/2026</a:t>
            </a:r>
          </a:p>
        </p:txBody>
      </p:sp>
      <p:sp>
        <p:nvSpPr>
          <p:cNvPr id="6" name="Зотов Владислав Сергеевич&#10;РПО 9/25/">
            <a:extLst xmlns:a="http://schemas.openxmlformats.org/drawingml/2006/main">
              <a:ext uri="{FF2B5EF4-FFF2-40B4-BE49-F238E27FC236}">
                <a16:creationId xmlns:a16="http://schemas.microsoft.com/office/drawing/2014/main" id="{B25F97DD-A9D8-4F49-8128-D93D1F2D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15125"/>
            <a:ext cx="1285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Зотов Владислав Сергеевич</a:t>
            </a:r>
          </a:p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РПО 9/25/3 · ОП.03 «Информационные технологии»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122D5AC-3CEA-40A6-9F0A-796D2482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3740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Задача турклуба">
            <a:extLst xmlns:a="http://schemas.openxmlformats.org/drawingml/2006/main">
              <a:ext uri="{FF2B5EF4-FFF2-40B4-BE49-F238E27FC236}">
                <a16:creationId xmlns:a16="http://schemas.microsoft.com/office/drawing/2014/main" id="{1A345DAE-90BA-478F-9B1E-11DC8563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Задача турклуба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B8FEF-3932-4D46-BB95-F8FA3DD33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600054d7c4ac7"/>
          <a:srcRect xmlns:a="http://schemas.openxmlformats.org/drawingml/2006/main" l="31944" t="0" r="319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0"/>
            <a:ext cx="4953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58">
            <a:extLst xmlns:a="http://schemas.openxmlformats.org/drawingml/2006/main">
              <a:ext uri="{FF2B5EF4-FFF2-40B4-BE49-F238E27FC236}">
                <a16:creationId xmlns:a16="http://schemas.microsoft.com/office/drawing/2014/main" id="{AB7EC137-65B2-4002-9C79-47613F22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4476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93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58</a:t>
            </a:r>
          </a:p>
        </p:txBody>
      </p:sp>
      <p:sp>
        <p:nvSpPr>
          <p:cNvPr id="4" name="обратившихся не получили&#10;другую дат">
            <a:extLst xmlns:a="http://schemas.openxmlformats.org/drawingml/2006/main">
              <a:ext uri="{FF2B5EF4-FFF2-40B4-BE49-F238E27FC236}">
                <a16:creationId xmlns:a16="http://schemas.microsoft.com/office/drawing/2014/main" id="{DC1EB0BE-4CA6-42DE-A346-1B8FD745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обратившихся не получили</a:t>
            </a:r>
          </a:p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другую дату</a:t>
            </a:r>
          </a:p>
        </p:txBody>
      </p:sp>
      <p:sp>
        <p:nvSpPr>
          <p:cNvPr id="5" name="2 000">
            <a:extLst xmlns:a="http://schemas.openxmlformats.org/drawingml/2006/main">
              <a:ext uri="{FF2B5EF4-FFF2-40B4-BE49-F238E27FC236}">
                <a16:creationId xmlns:a16="http://schemas.microsoft.com/office/drawing/2014/main" id="{5D7B7CEF-2086-4391-84F0-4BC17E1E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05000"/>
            <a:ext cx="4381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93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93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2 000</a:t>
            </a:r>
          </a:p>
        </p:txBody>
      </p:sp>
      <p:sp>
        <p:nvSpPr>
          <p:cNvPr id="6" name="участников в год&#10;по данным заказчик">
            <a:extLst xmlns:a="http://schemas.openxmlformats.org/drawingml/2006/main">
              <a:ext uri="{FF2B5EF4-FFF2-40B4-BE49-F238E27FC236}">
                <a16:creationId xmlns:a16="http://schemas.microsoft.com/office/drawing/2014/main" id="{97BF85AC-99E0-4626-8101-CB8FD9B1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33375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участников в год</a:t>
            </a:r>
          </a:p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по данным заказчика</a:t>
            </a:r>
          </a:p>
        </p:txBody>
      </p:sp>
      <p:sp>
        <p:nvSpPr>
          <p:cNvPr id="7" name="16">
            <a:extLst xmlns:a="http://schemas.openxmlformats.org/drawingml/2006/main">
              <a:ext uri="{FF2B5EF4-FFF2-40B4-BE49-F238E27FC236}">
                <a16:creationId xmlns:a16="http://schemas.microsoft.com/office/drawing/2014/main" id="{37497414-2D5E-4139-9320-83D53DDB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78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" name="человек в группе">
            <a:extLst xmlns:a="http://schemas.openxmlformats.org/drawingml/2006/main">
              <a:ext uri="{FF2B5EF4-FFF2-40B4-BE49-F238E27FC236}">
                <a16:creationId xmlns:a16="http://schemas.microsoft.com/office/drawing/2014/main" id="{3EFF6D50-23E3-4403-BA40-7FEBE3F8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1912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человек в группе</a:t>
            </a:r>
          </a:p>
        </p:txBody>
      </p:sp>
      <p:sp>
        <p:nvSpPr>
          <p:cNvPr id="9" name="6">
            <a:extLst xmlns:a="http://schemas.openxmlformats.org/drawingml/2006/main">
              <a:ext uri="{FF2B5EF4-FFF2-40B4-BE49-F238E27FC236}">
                <a16:creationId xmlns:a16="http://schemas.microsoft.com/office/drawing/2014/main" id="{401FDAE1-6B65-41BD-9D14-52004F63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78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78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0" name="зимних маршрутов">
            <a:extLst xmlns:a="http://schemas.openxmlformats.org/drawingml/2006/main">
              <a:ext uri="{FF2B5EF4-FFF2-40B4-BE49-F238E27FC236}">
                <a16:creationId xmlns:a16="http://schemas.microsoft.com/office/drawing/2014/main" id="{217DCB2C-570F-4D82-8D75-00EC418D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1912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зимних маршрутов</a:t>
            </a:r>
          </a:p>
        </p:txBody>
      </p:sp>
      <p:sp>
        <p:nvSpPr>
          <p:cNvPr id="11" name="Учебный кейс из ТЗ. Сентябрь 2026 г">
            <a:extLst xmlns:a="http://schemas.openxmlformats.org/drawingml/2006/main">
              <a:ext uri="{FF2B5EF4-FFF2-40B4-BE49-F238E27FC236}">
                <a16:creationId xmlns:a16="http://schemas.microsoft.com/office/drawing/2014/main" id="{D193D5B3-5FBB-4165-BB30-E011A1AA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7152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Учебный кейс из ТЗ. Сентябрь 2026 года</a:t>
            </a:r>
          </a:p>
        </p:txBody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FE223D8C-B87B-4D9E-BC66-C982DAC9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23103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D8998-49DB-49E5-B3C4-291FB3FBAE4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144000" y="4071938"/>
            <a:ext cx="19050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8716A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CBE62-6B17-4905-BA46-EC91E32A029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144000" y="2857500"/>
            <a:ext cx="19050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8716A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E5A87-2494-42B6-BB56-4B9B096A74C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905250" y="4071938"/>
            <a:ext cx="1857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58716A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8EFF8-62FC-4718-97F6-DA741669795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2857500"/>
            <a:ext cx="1857375" cy="1214438"/>
          </a:xfrm>
          <a:prstGeom xmlns:a="http://schemas.openxmlformats.org/drawingml/2006/main" prst="bentConnector3">
            <a:avLst>
              <a:gd name="adj1" fmla="val 12308"/>
            </a:avLst>
          </a:prstGeom>
          <a:ln xmlns:a="http://schemas.openxmlformats.org/drawingml/2006/main" w="28575">
            <a:solidFill>
              <a:srgbClr val="58716A"/>
            </a:solidFill>
            <a:tailEnd type="arrow" w="med" len="med"/>
          </a:ln>
        </p:spPr>
      </p:cxnSp>
      <p:sp>
        <p:nvSpPr>
          <p:cNvPr id="22" name="03">
            <a:extLst xmlns:a="http://schemas.openxmlformats.org/drawingml/2006/main">
              <a:ext uri="{FF2B5EF4-FFF2-40B4-BE49-F238E27FC236}">
                <a16:creationId xmlns:a16="http://schemas.microsoft.com/office/drawing/2014/main" id="{178CD607-5EE9-45A6-88FC-8601F3FF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" name="Два потока: действия и заявки">
            <a:extLst xmlns:a="http://schemas.openxmlformats.org/drawingml/2006/main">
              <a:ext uri="{FF2B5EF4-FFF2-40B4-BE49-F238E27FC236}">
                <a16:creationId xmlns:a16="http://schemas.microsoft.com/office/drawing/2014/main" id="{8CF7CC7F-BBA4-4A95-BA15-29A7DFD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Два потока: действия и заявки</a:t>
            </a:r>
          </a:p>
        </p:txBody>
      </p:sp>
      <p:sp>
        <p:nvSpPr>
          <p:cNvPr id="3" name="Соцсети и QR&#10;12 UTM-ссылок">
            <a:extLst xmlns:a="http://schemas.openxmlformats.org/drawingml/2006/main">
              <a:ext uri="{FF2B5EF4-FFF2-40B4-BE49-F238E27FC236}">
                <a16:creationId xmlns:a16="http://schemas.microsoft.com/office/drawing/2014/main" id="{6B0EC0D9-D686-4E82-BFBC-E68D456F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9"/>
          </a:solidFill>
          <a:ln xmlns:a="http://schemas.openxmlformats.org/drawingml/2006/main" w="0">
            <a:noFill/>
          </a:ln>
        </p:spPr>
      </p:sp>
      <p:sp>
        <p:nvSpPr>
          <p:cNvPr id="4" name="Соцсети и QR&#10;12 UTM-ссылок">
            <a:extLst xmlns:a="http://schemas.openxmlformats.org/drawingml/2006/main">
              <a:ext uri="{FF2B5EF4-FFF2-40B4-BE49-F238E27FC236}">
                <a16:creationId xmlns:a16="http://schemas.microsoft.com/office/drawing/2014/main" id="{C2F96757-969E-42B6-8329-518987D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Соцсети и QR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 UTM-ссылок</a:t>
            </a:r>
          </a:p>
        </p:txBody>
      </p:sp>
      <p:sp>
        <p:nvSpPr>
          <p:cNvPr id="5" name="Instagram Reel&#10;2 ветки ManyChat">
            <a:extLst xmlns:a="http://schemas.openxmlformats.org/drawingml/2006/main">
              <a:ext uri="{FF2B5EF4-FFF2-40B4-BE49-F238E27FC236}">
                <a16:creationId xmlns:a16="http://schemas.microsoft.com/office/drawing/2014/main" id="{376E5E05-F238-4E71-830D-764AE46C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9"/>
          </a:solidFill>
          <a:ln xmlns:a="http://schemas.openxmlformats.org/drawingml/2006/main" w="0">
            <a:noFill/>
          </a:ln>
        </p:spPr>
      </p:sp>
      <p:sp>
        <p:nvSpPr>
          <p:cNvPr id="6" name="Instagram Reel&#10;2 ветки ManyChat">
            <a:extLst xmlns:a="http://schemas.openxmlformats.org/drawingml/2006/main">
              <a:ext uri="{FF2B5EF4-FFF2-40B4-BE49-F238E27FC236}">
                <a16:creationId xmlns:a16="http://schemas.microsoft.com/office/drawing/2014/main" id="{60411A50-D9E1-4CC1-8A53-5E3A36B2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276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Instagram Reel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 ветки ManyChat</a:t>
            </a:r>
          </a:p>
        </p:txBody>
      </p:sp>
      <p:sp>
        <p:nvSpPr>
          <p:cNvPr id="7" name="Сайт «Тропа»&#10;Vercel">
            <a:extLst xmlns:a="http://schemas.openxmlformats.org/drawingml/2006/main">
              <a:ext uri="{FF2B5EF4-FFF2-40B4-BE49-F238E27FC236}">
                <a16:creationId xmlns:a16="http://schemas.microsoft.com/office/drawing/2014/main" id="{1C74A971-C611-4B72-8FBD-AC9996B8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3381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64F"/>
          </a:solidFill>
          <a:ln xmlns:a="http://schemas.openxmlformats.org/drawingml/2006/main" w="0">
            <a:noFill/>
          </a:ln>
        </p:spPr>
      </p:sp>
      <p:sp>
        <p:nvSpPr>
          <p:cNvPr id="8" name="Сайт «Тропа»&#10;Vercel">
            <a:extLst xmlns:a="http://schemas.openxmlformats.org/drawingml/2006/main">
              <a:ext uri="{FF2B5EF4-FFF2-40B4-BE49-F238E27FC236}">
                <a16:creationId xmlns:a16="http://schemas.microsoft.com/office/drawing/2014/main" id="{279A976F-8BD1-4EAB-A8DB-167813E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90925"/>
            <a:ext cx="3000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Сайт «Тропа»</a:t>
            </a:r>
          </a:p>
          <a:p xmlns:a="http://schemas.openxmlformats.org/drawingml/2006/main">
            <a:pPr algn="ctr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Vercel</a:t>
            </a:r>
          </a:p>
        </p:txBody>
      </p:sp>
      <p:sp>
        <p:nvSpPr>
          <p:cNvPr id="9" name="GA4&#10;События и пути">
            <a:extLst xmlns:a="http://schemas.openxmlformats.org/drawingml/2006/main">
              <a:ext uri="{FF2B5EF4-FFF2-40B4-BE49-F238E27FC236}">
                <a16:creationId xmlns:a16="http://schemas.microsoft.com/office/drawing/2014/main" id="{3D0C34F6-B2B6-401A-84E5-FEFE08EC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90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9"/>
          </a:solidFill>
          <a:ln xmlns:a="http://schemas.openxmlformats.org/drawingml/2006/main" w="0">
            <a:noFill/>
          </a:ln>
        </p:spPr>
      </p:sp>
      <p:sp>
        <p:nvSpPr>
          <p:cNvPr id="10" name="GA4&#10;События и пути">
            <a:extLst xmlns:a="http://schemas.openxmlformats.org/drawingml/2006/main">
              <a:ext uri="{FF2B5EF4-FFF2-40B4-BE49-F238E27FC236}">
                <a16:creationId xmlns:a16="http://schemas.microsoft.com/office/drawing/2014/main" id="{6AFBBA28-9FBE-4579-80E9-975CE26B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003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GA4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События и пути</a:t>
            </a:r>
          </a:p>
        </p:txBody>
      </p:sp>
      <p:sp>
        <p:nvSpPr>
          <p:cNvPr id="11" name="Apps Script&#10;Таблица leads">
            <a:extLst xmlns:a="http://schemas.openxmlformats.org/drawingml/2006/main">
              <a:ext uri="{FF2B5EF4-FFF2-40B4-BE49-F238E27FC236}">
                <a16:creationId xmlns:a16="http://schemas.microsoft.com/office/drawing/2014/main" id="{E20A1EBD-DAE2-4C6E-88C7-23953C03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19625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39"/>
          </a:solidFill>
          <a:ln xmlns:a="http://schemas.openxmlformats.org/drawingml/2006/main" w="0">
            <a:noFill/>
          </a:ln>
        </p:spPr>
      </p:sp>
      <p:sp>
        <p:nvSpPr>
          <p:cNvPr id="12" name="Apps Script&#10;Таблица leads">
            <a:extLst xmlns:a="http://schemas.openxmlformats.org/drawingml/2006/main">
              <a:ext uri="{FF2B5EF4-FFF2-40B4-BE49-F238E27FC236}">
                <a16:creationId xmlns:a16="http://schemas.microsoft.com/office/drawing/2014/main" id="{F1C991E3-BFB2-45D7-A919-0AC28E4B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291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Apps Script</a:t>
            </a:r>
          </a:p>
          <a:p xmlns:a="http://schemas.openxmlformats.org/drawingml/2006/main">
            <a:pPr algn="ctr">
              <a:defRPr sz="24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Таблица leads</a:t>
            </a:r>
          </a:p>
        </p:txBody>
      </p:sp>
      <p:sp>
        <p:nvSpPr>
          <p:cNvPr id="17" name="UTM">
            <a:extLst xmlns:a="http://schemas.openxmlformats.org/drawingml/2006/main">
              <a:ext uri="{FF2B5EF4-FFF2-40B4-BE49-F238E27FC236}">
                <a16:creationId xmlns:a16="http://schemas.microsoft.com/office/drawing/2014/main" id="{DD1EBEA8-E028-4F0A-8F5B-9C3A6D78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UTM</a:t>
            </a:r>
          </a:p>
        </p:txBody>
      </p:sp>
      <p:sp>
        <p:nvSpPr>
          <p:cNvPr id="18" name="действия">
            <a:extLst xmlns:a="http://schemas.openxmlformats.org/drawingml/2006/main">
              <a:ext uri="{FF2B5EF4-FFF2-40B4-BE49-F238E27FC236}">
                <a16:creationId xmlns:a16="http://schemas.microsoft.com/office/drawing/2014/main" id="{9FA6FE77-B04D-4A35-B772-64497F1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765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действия</a:t>
            </a:r>
          </a:p>
        </p:txBody>
      </p:sp>
      <p:sp>
        <p:nvSpPr>
          <p:cNvPr id="19" name="заявка">
            <a:extLst xmlns:a="http://schemas.openxmlformats.org/drawingml/2006/main">
              <a:ext uri="{FF2B5EF4-FFF2-40B4-BE49-F238E27FC236}">
                <a16:creationId xmlns:a16="http://schemas.microsoft.com/office/drawing/2014/main" id="{F9B61EAB-BC54-4F26-841D-E7FF3CED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38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заявка</a:t>
            </a:r>
          </a:p>
        </p:txBody>
      </p:sp>
      <p:sp>
        <p:nvSpPr>
          <p:cNvPr id="20" name="В строке заявки: маршрут, дата, уча">
            <a:extLst xmlns:a="http://schemas.openxmlformats.org/drawingml/2006/main">
              <a:ext uri="{FF2B5EF4-FFF2-40B4-BE49-F238E27FC236}">
                <a16:creationId xmlns:a16="http://schemas.microsoft.com/office/drawing/2014/main" id="{C9EE12D7-A660-46F8-AFF1-8F306FC0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5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5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В строке заявки: маршрут, дата, участники, источник и статус</a:t>
            </a:r>
          </a:p>
        </p:txBody>
      </p:sp>
      <p:sp>
        <p:nvSpPr>
          <p:cNvPr id="21" name="request_id защищает от повторной за">
            <a:extLst xmlns:a="http://schemas.openxmlformats.org/drawingml/2006/main">
              <a:ext uri="{FF2B5EF4-FFF2-40B4-BE49-F238E27FC236}">
                <a16:creationId xmlns:a16="http://schemas.microsoft.com/office/drawing/2014/main" id="{CADBEBDB-CC71-4DD7-A792-64993B7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0"/>
            <a:ext cx="1352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request_id защищает от повторной записи. Контакты не передаются в GA4.</a:t>
            </a:r>
          </a:p>
        </p:txBody>
      </p:sp>
    </p:spTree>
    <p:extLst>
      <p:ext uri="{BB962C8B-B14F-4D97-AF65-F5344CB8AC3E}">
        <p14:creationId xmlns:p14="http://schemas.microsoft.com/office/powerpoint/2010/main" val="946837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C54CC6AA-10FA-4757-BC95-D69FBE83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" name="Один сайт на компьютере и телефоне">
            <a:extLst xmlns:a="http://schemas.openxmlformats.org/drawingml/2006/main">
              <a:ext uri="{FF2B5EF4-FFF2-40B4-BE49-F238E27FC236}">
                <a16:creationId xmlns:a16="http://schemas.microsoft.com/office/drawing/2014/main" id="{6F733B6F-CFBB-4E7E-8545-DD7125D5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Один сайт на компьютере и телефоне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3C2FA-D68D-45B5-9AFE-8B71936BA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acea75515449b"/>
          <a:stretch xmlns:a="http://schemas.openxmlformats.org/drawingml/2006/main"/>
        </p:blipFill>
        <p:spPr>
          <a:xfrm xmlns:a="http://schemas.openxmlformats.org/drawingml/2006/main">
            <a:off x="1235273" y="1952625"/>
            <a:ext cx="7530703" cy="42386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7EA9-BF44-4B31-90CC-E23EEF5E8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4bdb451fb4730"/>
          <a:stretch xmlns:a="http://schemas.openxmlformats.org/drawingml/2006/main"/>
        </p:blipFill>
        <p:spPr>
          <a:xfrm xmlns:a="http://schemas.openxmlformats.org/drawingml/2006/main">
            <a:off x="9620250" y="1962023"/>
            <a:ext cx="2190750" cy="4743704"/>
          </a:xfrm>
          <a:prstGeom xmlns:a="http://schemas.openxmlformats.org/drawingml/2006/main" prst="rect">
            <a:avLst/>
          </a:prstGeom>
        </p:spPr>
      </p:pic>
      <p:sp>
        <p:nvSpPr>
          <p:cNvPr id="5" name="8 + 404">
            <a:extLst xmlns:a="http://schemas.openxmlformats.org/drawingml/2006/main">
              <a:ext uri="{FF2B5EF4-FFF2-40B4-BE49-F238E27FC236}">
                <a16:creationId xmlns:a16="http://schemas.microsoft.com/office/drawing/2014/main" id="{43E82797-EDB5-4AF2-B132-151BDF82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143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2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322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8 + 404</a:t>
            </a:r>
          </a:p>
        </p:txBody>
      </p:sp>
      <p:sp>
        <p:nvSpPr>
          <p:cNvPr id="6" name="страниц">
            <a:extLst xmlns:a="http://schemas.openxmlformats.org/drawingml/2006/main">
              <a:ext uri="{FF2B5EF4-FFF2-40B4-BE49-F238E27FC236}">
                <a16:creationId xmlns:a16="http://schemas.microsoft.com/office/drawing/2014/main" id="{F6F68499-1639-458D-8690-7815BE8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57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страниц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CB41106D-B20F-49A7-B690-6E7BCDF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57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8" name="маршрутов">
            <a:extLst xmlns:a="http://schemas.openxmlformats.org/drawingml/2006/main">
              <a:ext uri="{FF2B5EF4-FFF2-40B4-BE49-F238E27FC236}">
                <a16:creationId xmlns:a16="http://schemas.microsoft.com/office/drawing/2014/main" id="{EE626188-D084-462A-9555-0C5796D5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572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маршрутов</a:t>
            </a:r>
          </a:p>
        </p:txBody>
      </p:sp>
      <p:sp>
        <p:nvSpPr>
          <p:cNvPr id="9" name="13">
            <a:extLst xmlns:a="http://schemas.openxmlformats.org/drawingml/2006/main">
              <a:ext uri="{FF2B5EF4-FFF2-40B4-BE49-F238E27FC236}">
                <a16:creationId xmlns:a16="http://schemas.microsoft.com/office/drawing/2014/main" id="{9F527DEA-6499-49E1-93C5-4BDD319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572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3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10" name="дат выездов">
            <a:extLst xmlns:a="http://schemas.openxmlformats.org/drawingml/2006/main">
              <a:ext uri="{FF2B5EF4-FFF2-40B4-BE49-F238E27FC236}">
                <a16:creationId xmlns:a16="http://schemas.microsoft.com/office/drawing/2014/main" id="{3146D5AB-4771-414B-A954-9CEE6ED0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28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дат выездов</a:t>
            </a:r>
          </a:p>
        </p:txBody>
      </p:sp>
      <p:sp>
        <p:nvSpPr>
          <p:cNvPr id="11" name="Фильтры, календарь, аренда и промок">
            <a:extLst xmlns:a="http://schemas.openxmlformats.org/drawingml/2006/main">
              <a:ext uri="{FF2B5EF4-FFF2-40B4-BE49-F238E27FC236}">
                <a16:creationId xmlns:a16="http://schemas.microsoft.com/office/drawing/2014/main" id="{A2BE2763-FD26-4CB7-BA36-896B30C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Фильтры, календарь, аренда и промокод SNOW300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B3742-9C9D-4AFD-8753-542F2790D5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36985f6b046eb"/>
          <a:stretch xmlns:a="http://schemas.openxmlformats.org/drawingml/2006/main"/>
        </p:blipFill>
        <p:spPr>
          <a:xfrm xmlns:a="http://schemas.openxmlformats.org/drawingml/2006/main">
            <a:off x="3156239" y="7477125"/>
            <a:ext cx="3498273" cy="762000"/>
          </a:xfrm>
          <a:prstGeom xmlns:a="http://schemas.openxmlformats.org/drawingml/2006/main" prst="rect">
            <a:avLst/>
          </a:prstGeom>
        </p:spPr>
      </p:pic>
      <p:sp>
        <p:nvSpPr>
          <p:cNvPr id="13" name="Lighthouse Mobile&#10;29.10: 72 / 100 /">
            <a:extLst xmlns:a="http://schemas.openxmlformats.org/drawingml/2006/main">
              <a:ext uri="{FF2B5EF4-FFF2-40B4-BE49-F238E27FC236}">
                <a16:creationId xmlns:a16="http://schemas.microsoft.com/office/drawing/2014/main" id="{90B2C81A-6FAB-41D4-ACE5-0A6506E9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Lighthouse Mobile</a:t>
            </a:r>
          </a:p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29.10: 72 / 100 / 100 / 100</a:t>
            </a:r>
          </a:p>
        </p:txBody>
      </p:sp>
    </p:spTree>
    <p:extLst>
      <p:ext uri="{BB962C8B-B14F-4D97-AF65-F5344CB8AC3E}">
        <p14:creationId xmlns:p14="http://schemas.microsoft.com/office/powerpoint/2010/main" val="884378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9080E183-3DCE-4FF9-BDC8-77A795E6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" name="Полный путь одной заявки">
            <a:extLst xmlns:a="http://schemas.openxmlformats.org/drawingml/2006/main">
              <a:ext uri="{FF2B5EF4-FFF2-40B4-BE49-F238E27FC236}">
                <a16:creationId xmlns:a16="http://schemas.microsoft.com/office/drawing/2014/main" id="{D8DFB3B5-0840-4501-B639-ABA399B8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Полный путь одной заявки</a:t>
            </a:r>
          </a:p>
        </p:txBody>
      </p:sp>
      <p:sp>
        <p:nvSpPr>
          <p:cNvPr id="3" name="01  UTM-ссылка">
            <a:extLst xmlns:a="http://schemas.openxmlformats.org/drawingml/2006/main">
              <a:ext uri="{FF2B5EF4-FFF2-40B4-BE49-F238E27FC236}">
                <a16:creationId xmlns:a16="http://schemas.microsoft.com/office/drawing/2014/main" id="{DF6E6022-EE3A-4F38-8062-DDE43336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01  UTM-ссылка</a:t>
            </a:r>
          </a:p>
        </p:txBody>
      </p:sp>
      <p:sp>
        <p:nvSpPr>
          <p:cNvPr id="4" name="02  Форма">
            <a:extLst xmlns:a="http://schemas.openxmlformats.org/drawingml/2006/main">
              <a:ext uri="{FF2B5EF4-FFF2-40B4-BE49-F238E27FC236}">
                <a16:creationId xmlns:a16="http://schemas.microsoft.com/office/drawing/2014/main" id="{F4B77F2A-4F97-42AF-95C2-ED35FBEB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02  Форма</a:t>
            </a:r>
          </a:p>
        </p:txBody>
      </p:sp>
      <p:sp>
        <p:nvSpPr>
          <p:cNvPr id="5" name="03  Выдержка leads">
            <a:extLst xmlns:a="http://schemas.openxmlformats.org/drawingml/2006/main">
              <a:ext uri="{FF2B5EF4-FFF2-40B4-BE49-F238E27FC236}">
                <a16:creationId xmlns:a16="http://schemas.microsoft.com/office/drawing/2014/main" id="{8101E1B5-07FF-4BB5-9C30-D5DCA30E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03  Выдержка leads</a:t>
            </a:r>
          </a:p>
        </p:txBody>
      </p:sp>
      <p:sp>
        <p:nvSpPr>
          <p:cNvPr id="6" name="04  GA4 Realtime">
            <a:extLst xmlns:a="http://schemas.openxmlformats.org/drawingml/2006/main">
              <a:ext uri="{FF2B5EF4-FFF2-40B4-BE49-F238E27FC236}">
                <a16:creationId xmlns:a16="http://schemas.microsoft.com/office/drawing/2014/main" id="{16E488A5-7A1A-450C-82E5-12F34FBF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952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04  GA4 Realtime</a:t>
            </a:r>
          </a:p>
        </p:txBody>
      </p:sp>
      <p:sp>
        <p:nvSpPr>
          <p:cNvPr id="7" name="instagram&#10;social">
            <a:extLst xmlns:a="http://schemas.openxmlformats.org/drawingml/2006/main">
              <a:ext uri="{FF2B5EF4-FFF2-40B4-BE49-F238E27FC236}">
                <a16:creationId xmlns:a16="http://schemas.microsoft.com/office/drawing/2014/main" id="{3155333C-B4FB-4D92-921E-9197F26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instagram</a:t>
            </a:r>
          </a:p>
          <a:p xmlns:a="http://schemas.openxmlformats.org/drawingml/2006/main">
            <a:pPr algn="l">
              <a:defRPr sz="28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8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social</a:t>
            </a:r>
          </a:p>
        </p:txBody>
      </p:sp>
      <p:sp>
        <p:nvSpPr>
          <p:cNvPr id="8" name="Кампания&#10;winter_trips_2026&#10;&#10;Материа">
            <a:extLst xmlns:a="http://schemas.openxmlformats.org/drawingml/2006/main">
              <a:ext uri="{FF2B5EF4-FFF2-40B4-BE49-F238E27FC236}">
                <a16:creationId xmlns:a16="http://schemas.microsoft.com/office/drawing/2014/main" id="{3F035782-61D1-48D4-8181-941D793D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95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Кампания</a:t>
            </a:r>
          </a:p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winter_trips_2026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Материал</a:t>
            </a:r>
          </a:p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reel_tent_01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92E71-6702-4BE6-8EE9-04A41A2DF7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8edf950f74456"/>
          <a:stretch xmlns:a="http://schemas.openxmlformats.org/drawingml/2006/main"/>
        </p:blipFill>
        <p:spPr>
          <a:xfrm xmlns:a="http://schemas.openxmlformats.org/drawingml/2006/main">
            <a:off x="4286250" y="2777743"/>
            <a:ext cx="2952750" cy="4064763"/>
          </a:xfrm>
          <a:prstGeom xmlns:a="http://schemas.openxmlformats.org/drawingml/2006/main" prst="rect">
            <a:avLst/>
          </a:prstGeom>
        </p:spPr>
      </p:pic>
      <p:sp>
        <p:nvSpPr>
          <p:cNvPr id="10" name="REQ-478ab710…">
            <a:extLst xmlns:a="http://schemas.openxmlformats.org/drawingml/2006/main">
              <a:ext uri="{FF2B5EF4-FFF2-40B4-BE49-F238E27FC236}">
                <a16:creationId xmlns:a16="http://schemas.microsoft.com/office/drawing/2014/main" id="{B9EEF82E-34DA-4AB8-BA8D-A9847BCA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REQ-478ab710…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C1B38-710E-4A78-99D7-6B2056C34A58}"/>
              </a:ext>
            </a:extLst>
          </p:cNvPr>
          <p:cNvGraphicFramePr/>
          <p:nvPr/>
        </p:nvGraphicFramePr>
        <p:xfrm>
          <a:off xmlns:a="http://schemas.openxmlformats.org/drawingml/2006/main" x="7810500" y="3810000"/>
          <a:ext xmlns:a="http://schemas.openxmlformats.org/drawingml/2006/main" cx="314325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666875"/>
              </a:tblGrid>
              <a:tr h="631031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Поле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Значение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</a:tr>
              <a:tr h="631031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instagram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631031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medium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social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631031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new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</a:tbl>
          </a:graphicData>
        </a:graphic>
      </p:graphicFrame>
      <p:sp>
        <p:nvSpPr>
          <p:cNvPr id="12" name="30.10, 01:11:32">
            <a:extLst xmlns:a="http://schemas.openxmlformats.org/drawingml/2006/main">
              <a:ext uri="{FF2B5EF4-FFF2-40B4-BE49-F238E27FC236}">
                <a16:creationId xmlns:a16="http://schemas.microsoft.com/office/drawing/2014/main" id="{628D32A1-7AF1-4896-A96A-B214131E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246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30.10, 01:11:32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A0B1E-0D6D-4D09-A1A6-016B319FA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c3d70103f4fe3"/>
          <a:stretch xmlns:a="http://schemas.openxmlformats.org/drawingml/2006/main"/>
        </p:blipFill>
        <p:spPr>
          <a:xfrm xmlns:a="http://schemas.openxmlformats.org/drawingml/2006/main">
            <a:off x="11334750" y="2870150"/>
            <a:ext cx="3143250" cy="3879949"/>
          </a:xfrm>
          <a:prstGeom xmlns:a="http://schemas.openxmlformats.org/drawingml/2006/main" prst="rect">
            <a:avLst/>
          </a:prstGeom>
        </p:spPr>
      </p:pic>
      <p:sp>
        <p:nvSpPr>
          <p:cNvPr id="14" name="Форма показана на учебном примере. ">
            <a:extLst xmlns:a="http://schemas.openxmlformats.org/drawingml/2006/main">
              <a:ext uri="{FF2B5EF4-FFF2-40B4-BE49-F238E27FC236}">
                <a16:creationId xmlns:a16="http://schemas.microsoft.com/office/drawing/2014/main" id="{7304B8E9-5F2B-4B29-9602-321FED4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1352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Форма показана на учебном примере. Запись и событие подтверждены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680679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3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6">
            <a:extLst xmlns:a="http://schemas.openxmlformats.org/drawingml/2006/main">
              <a:ext uri="{FF2B5EF4-FFF2-40B4-BE49-F238E27FC236}">
                <a16:creationId xmlns:a16="http://schemas.microsoft.com/office/drawing/2014/main" id="{C4EF3D79-2D42-4671-8CD9-1BEBD00F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" name="Один Reel, два полезных ответа">
            <a:extLst xmlns:a="http://schemas.openxmlformats.org/drawingml/2006/main">
              <a:ext uri="{FF2B5EF4-FFF2-40B4-BE49-F238E27FC236}">
                <a16:creationId xmlns:a16="http://schemas.microsoft.com/office/drawing/2014/main" id="{328163D6-768C-4167-8C2C-B6772879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F4F6F0"/>
                </a:solidFill>
                <a:latin typeface="Georgia"/>
                <a:ea typeface="Georgia"/>
                <a:cs typeface="Georgia"/>
              </a:rPr>
              <a:t>Один Reel, два полезных ответа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9F6D9-F868-4755-A742-8F9A4991A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f243096a347dc"/>
          <a:stretch xmlns:a="http://schemas.openxmlformats.org/drawingml/2006/main"/>
        </p:blipFill>
        <p:spPr>
          <a:xfrm xmlns:a="http://schemas.openxmlformats.org/drawingml/2006/main">
            <a:off x="762000" y="2798233"/>
            <a:ext cx="3238500" cy="3166533"/>
          </a:xfrm>
          <a:prstGeom xmlns:a="http://schemas.openxmlformats.org/drawingml/2006/main" prst="rect">
            <a:avLst/>
          </a:prstGeom>
        </p:spPr>
      </p:pic>
      <p:sp>
        <p:nvSpPr>
          <p:cNvPr id="4" name="Ночёвка при −15 °C&#10;41,5 секунды">
            <a:extLst xmlns:a="http://schemas.openxmlformats.org/drawingml/2006/main">
              <a:ext uri="{FF2B5EF4-FFF2-40B4-BE49-F238E27FC236}">
                <a16:creationId xmlns:a16="http://schemas.microsoft.com/office/drawing/2014/main" id="{431BA4EB-AC8E-42E5-83D2-9E06483F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3524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Ночёвка при −15 °C</a:t>
            </a:r>
          </a:p>
          <a:p xmlns:a="http://schemas.openxmlformats.org/drawingml/2006/main">
            <a: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41,5 секунды</a:t>
            </a:r>
          </a:p>
        </p:txBody>
      </p:sp>
      <p:sp>
        <p:nvSpPr>
          <p:cNvPr id="5" name="СНАРЯГА">
            <a:extLst xmlns:a="http://schemas.openxmlformats.org/drawingml/2006/main">
              <a:ext uri="{FF2B5EF4-FFF2-40B4-BE49-F238E27FC236}">
                <a16:creationId xmlns:a16="http://schemas.microsoft.com/office/drawing/2014/main" id="{BC8030C7-D4D0-435F-8732-A189970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EAB64F"/>
                </a:solidFill>
                <a:latin typeface="Georgia"/>
                <a:ea typeface="Georgia"/>
                <a:cs typeface="Georgia"/>
              </a:rPr>
              <a:t>СНАРЯГА</a:t>
            </a:r>
          </a:p>
        </p:txBody>
      </p:sp>
      <p:sp>
        <p:nvSpPr>
          <p:cNvPr id="6" name="Чек-лист&#10;Аренда&#10;SNOW300">
            <a:extLst xmlns:a="http://schemas.openxmlformats.org/drawingml/2006/main">
              <a:ext uri="{FF2B5EF4-FFF2-40B4-BE49-F238E27FC236}">
                <a16:creationId xmlns:a16="http://schemas.microsoft.com/office/drawing/2014/main" id="{746DB919-16EE-47F0-A3C9-1F996CE4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562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Чек-лист</a:t>
            </a:r>
          </a:p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Аренда</a:t>
            </a:r>
          </a:p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SNOW300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64A2A-5DCD-4958-BF9B-D4CA71184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9b409df654dbe"/>
          <a:stretch xmlns:a="http://schemas.openxmlformats.org/drawingml/2006/main"/>
        </p:blipFill>
        <p:spPr>
          <a:xfrm xmlns:a="http://schemas.openxmlformats.org/drawingml/2006/main">
            <a:off x="7908961" y="2095500"/>
            <a:ext cx="5899079" cy="2524125"/>
          </a:xfrm>
          <a:prstGeom xmlns:a="http://schemas.openxmlformats.org/drawingml/2006/main" prst="rect">
            <a:avLst/>
          </a:prstGeom>
        </p:spPr>
      </p:pic>
      <p:sp>
        <p:nvSpPr>
          <p:cNvPr id="8" name="НОВИЧОК">
            <a:extLst xmlns:a="http://schemas.openxmlformats.org/drawingml/2006/main">
              <a:ext uri="{FF2B5EF4-FFF2-40B4-BE49-F238E27FC236}">
                <a16:creationId xmlns:a16="http://schemas.microsoft.com/office/drawing/2014/main" id="{E00341FC-D2D5-4140-B104-BB7E401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32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EAB64F"/>
                </a:solidFill>
                <a:latin typeface="Georgia"/>
                <a:ea typeface="Georgia"/>
                <a:cs typeface="Georgia"/>
              </a:rPr>
              <a:t>НОВИЧОК</a:t>
            </a:r>
          </a:p>
        </p:txBody>
      </p:sp>
      <p:sp>
        <p:nvSpPr>
          <p:cNvPr id="9" name="Три маршрута&#10;для первого&#10;похода">
            <a:extLst xmlns:a="http://schemas.openxmlformats.org/drawingml/2006/main">
              <a:ext uri="{FF2B5EF4-FFF2-40B4-BE49-F238E27FC236}">
                <a16:creationId xmlns:a16="http://schemas.microsoft.com/office/drawing/2014/main" id="{A554DDF0-4FA5-4DB0-A03D-8ABCA31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096000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Три маршрута</a:t>
            </a:r>
          </a:p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для первого</a:t>
            </a:r>
          </a:p>
          <a:p xmlns:a="http://schemas.openxmlformats.org/drawingml/2006/main">
            <a:pPr algn="l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похода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DF599-8F18-4E2D-BC51-FBC5B3D5B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9956b4a0043fa"/>
          <a:stretch xmlns:a="http://schemas.openxmlformats.org/drawingml/2006/main"/>
        </p:blipFill>
        <p:spPr>
          <a:xfrm xmlns:a="http://schemas.openxmlformats.org/drawingml/2006/main">
            <a:off x="7836660" y="5095875"/>
            <a:ext cx="6043680" cy="252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31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7">
            <a:extLst xmlns:a="http://schemas.openxmlformats.org/drawingml/2006/main">
              <a:ext uri="{FF2B5EF4-FFF2-40B4-BE49-F238E27FC236}">
                <a16:creationId xmlns:a16="http://schemas.microsoft.com/office/drawing/2014/main" id="{BCCFC901-C24E-47FF-8CAE-5CF2CE7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2" name="Какие источники привели тестовые за">
            <a:extLst xmlns:a="http://schemas.openxmlformats.org/drawingml/2006/main">
              <a:ext uri="{FF2B5EF4-FFF2-40B4-BE49-F238E27FC236}">
                <a16:creationId xmlns:a16="http://schemas.microsoft.com/office/drawing/2014/main" id="{F2D598CE-DCFE-42D0-8D38-4A729FDD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Какие источники привели тестовые заявки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1CB88CF0-42A5-4135-8476-D923B1A0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73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73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4" name="имён событий">
            <a:extLst xmlns:a="http://schemas.openxmlformats.org/drawingml/2006/main">
              <a:ext uri="{FF2B5EF4-FFF2-40B4-BE49-F238E27FC236}">
                <a16:creationId xmlns:a16="http://schemas.microsoft.com/office/drawing/2014/main" id="{0530BFA4-53F6-4028-90EE-20FD0C0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имён событий</a:t>
            </a:r>
          </a:p>
        </p:txBody>
      </p:sp>
      <p:sp>
        <p:nvSpPr>
          <p:cNvPr id="5" name="7">
            <a:extLst xmlns:a="http://schemas.openxmlformats.org/drawingml/2006/main">
              <a:ext uri="{FF2B5EF4-FFF2-40B4-BE49-F238E27FC236}">
                <a16:creationId xmlns:a16="http://schemas.microsoft.com/office/drawing/2014/main" id="{1CBA3916-83E3-4D87-B43F-FB12DDD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66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66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6" name="специальных параметров">
            <a:extLst xmlns:a="http://schemas.openxmlformats.org/drawingml/2006/main">
              <a:ext uri="{FF2B5EF4-FFF2-40B4-BE49-F238E27FC236}">
                <a16:creationId xmlns:a16="http://schemas.microsoft.com/office/drawing/2014/main" id="{E1031207-1537-4C64-975F-20D4A921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81625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специальных параметров</a:t>
            </a:r>
          </a:p>
        </p:txBody>
      </p:sp>
      <p:sp>
        <p:nvSpPr>
          <p:cNvPr id="7" name="G-JG7PNX1WWW">
            <a:extLst xmlns:a="http://schemas.openxmlformats.org/drawingml/2006/main">
              <a:ext uri="{FF2B5EF4-FFF2-40B4-BE49-F238E27FC236}">
                <a16:creationId xmlns:a16="http://schemas.microsoft.com/office/drawing/2014/main" id="{BA740D66-98E1-4B4C-ACB9-0A79680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477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G-JG7PNX1WWW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DD968BFF-39ED-4B13-8506-6BF6315A80BF}"/>
              </a:ext>
            </a:extLst>
          </p:cNvPr>
          <p:cNvGraphicFramePr/>
          <p:nvPr/>
        </p:nvGraphicFramePr>
        <p:xfrm>
          <a:off xmlns:a="http://schemas.openxmlformats.org/drawingml/2006/main" x="5715000" y="2047875"/>
          <a:ext xmlns:a="http://schemas.openxmlformats.org/drawingml/2006/main" cx="85725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ed8b6adb9a4c0b"/>
          </a:graphicData>
        </a:graphic>
      </p:graphicFrame>
      <p:sp>
        <p:nvSpPr>
          <p:cNvPr id="9" name="27–30.10: 17 сеансов, 198 событий, ">
            <a:extLst xmlns:a="http://schemas.openxmlformats.org/drawingml/2006/main">
              <a:ext uri="{FF2B5EF4-FFF2-40B4-BE49-F238E27FC236}">
                <a16:creationId xmlns:a16="http://schemas.microsoft.com/office/drawing/2014/main" id="{1FFF73F2-88A2-4A13-B9C1-14295AFE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810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2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27–30.10: 17 сеансов, 198 событий, 3 generate_lead</a:t>
            </a:r>
          </a:p>
        </p:txBody>
      </p:sp>
      <p:sp>
        <p:nvSpPr>
          <p:cNvPr id="10" name="Есть (not set) и расхождение строк ">
            <a:extLst xmlns:a="http://schemas.openxmlformats.org/drawingml/2006/main">
              <a:ext uri="{FF2B5EF4-FFF2-40B4-BE49-F238E27FC236}">
                <a16:creationId xmlns:a16="http://schemas.microsoft.com/office/drawing/2014/main" id="{732923AB-1883-4A49-8F7B-98A5E61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5250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Есть (not set) и расхождение строк с итогом отчёта.</a:t>
            </a:r>
          </a:p>
        </p:txBody>
      </p:sp>
    </p:spTree>
    <p:extLst>
      <p:ext uri="{BB962C8B-B14F-4D97-AF65-F5344CB8AC3E}">
        <p14:creationId xmlns:p14="http://schemas.microsoft.com/office/powerpoint/2010/main" val="1208599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A4FB062D-ACE3-4FCE-9425-12BDAEC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2" name="Где воронка теряет прямой трафик">
            <a:extLst xmlns:a="http://schemas.openxmlformats.org/drawingml/2006/main">
              <a:ext uri="{FF2B5EF4-FFF2-40B4-BE49-F238E27FC236}">
                <a16:creationId xmlns:a16="http://schemas.microsoft.com/office/drawing/2014/main" id="{B98DCEF0-931C-43F2-85FF-A9B9859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Где воронка теряет прямой трафик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39342-0413-4ED9-AAC7-BFB2ED7C79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6b6cc6d944706"/>
          <a:stretch xmlns:a="http://schemas.openxmlformats.org/drawingml/2006/main"/>
        </p:blipFill>
        <p:spPr>
          <a:xfrm xmlns:a="http://schemas.openxmlformats.org/drawingml/2006/main">
            <a:off x="1157654" y="1905000"/>
            <a:ext cx="12924692" cy="3333750"/>
          </a:xfrm>
          <a:prstGeom xmlns:a="http://schemas.openxmlformats.org/drawingml/2006/main" prst="rect">
            <a:avLst/>
          </a:prstGeom>
        </p:spPr>
      </p:pic>
      <p:sp>
        <p:nvSpPr>
          <p:cNvPr id="4" name="100 %">
            <a:extLst xmlns:a="http://schemas.openxmlformats.org/drawingml/2006/main">
              <a:ext uri="{FF2B5EF4-FFF2-40B4-BE49-F238E27FC236}">
                <a16:creationId xmlns:a16="http://schemas.microsoft.com/office/drawing/2014/main" id="{4C72AD43-1C44-4FF4-8786-B274941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61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61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100 %</a:t>
            </a:r>
          </a:p>
        </p:txBody>
      </p:sp>
      <p:sp>
        <p:nvSpPr>
          <p:cNvPr id="5" name="Direct: 3 пользователя&#10;и 0 переходо">
            <a:extLst xmlns:a="http://schemas.openxmlformats.org/drawingml/2006/main">
              <a:ext uri="{FF2B5EF4-FFF2-40B4-BE49-F238E27FC236}">
                <a16:creationId xmlns:a16="http://schemas.microsoft.com/office/drawing/2014/main" id="{3E333209-F5CA-4D45-8006-60F37FF2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151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Direct: 3 пользователя</a:t>
            </a:r>
          </a:p>
          <a:p xmlns:a="http://schemas.openxmlformats.org/drawingml/2006/main">
            <a:pPr algn="l">
              <a:defRPr sz="217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и 0 переходов к фильтру</a:t>
            </a:r>
          </a:p>
        </p:txBody>
      </p:sp>
      <p:sp>
        <p:nvSpPr>
          <p:cNvPr id="6" name="Гипотеза для следующего теста">
            <a:extLst xmlns:a="http://schemas.openxmlformats.org/drawingml/2006/main">
              <a:ext uri="{FF2B5EF4-FFF2-40B4-BE49-F238E27FC236}">
                <a16:creationId xmlns:a16="http://schemas.microsoft.com/office/drawing/2014/main" id="{50C41B5E-D76C-44C8-A7C4-1926F9E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7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Гипотеза для следующего теста</a:t>
            </a:r>
          </a:p>
        </p:txBody>
      </p:sp>
      <p:sp>
        <p:nvSpPr>
          <p:cNvPr id="7" name="Возможен прямой вход в форму.&#10;Сравн">
            <a:extLst xmlns:a="http://schemas.openxmlformats.org/drawingml/2006/main">
              <a:ext uri="{FF2B5EF4-FFF2-40B4-BE49-F238E27FC236}">
                <a16:creationId xmlns:a16="http://schemas.microsoft.com/office/drawing/2014/main" id="{DD9F090C-6F48-45A9-B59B-B9610EC7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24625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Возможен прямой вход в форму.</a:t>
            </a:r>
          </a:p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Сравнить воронку ТЗ с коротким путём:</a:t>
            </a:r>
          </a:p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просмотр, начало формы, заявка.</a:t>
            </a:r>
          </a:p>
        </p:txBody>
      </p:sp>
      <p:sp>
        <p:nvSpPr>
          <p:cNvPr id="8" name="Учебный тест 27–29.10: Instagram — ">
            <a:extLst xmlns:a="http://schemas.openxmlformats.org/drawingml/2006/main">
              <a:ext uri="{FF2B5EF4-FFF2-40B4-BE49-F238E27FC236}">
                <a16:creationId xmlns:a16="http://schemas.microsoft.com/office/drawing/2014/main" id="{E58E3CF9-84CE-4E9E-B318-7B9C9814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Учебный тест 27–29.10: Instagram — 1 пользователь на всех шагах.</a:t>
            </a:r>
          </a:p>
        </p:txBody>
      </p:sp>
    </p:spTree>
    <p:extLst>
      <p:ext uri="{BB962C8B-B14F-4D97-AF65-F5344CB8AC3E}">
        <p14:creationId xmlns:p14="http://schemas.microsoft.com/office/powerpoint/2010/main" val="952658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3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9">
            <a:extLst xmlns:a="http://schemas.openxmlformats.org/drawingml/2006/main">
              <a:ext uri="{FF2B5EF4-FFF2-40B4-BE49-F238E27FC236}">
                <a16:creationId xmlns:a16="http://schemas.microsoft.com/office/drawing/2014/main" id="{E6D5107C-5900-43C3-8B2E-CE2691D0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2" name="Сверка отделяет запись от события">
            <a:extLst xmlns:a="http://schemas.openxmlformats.org/drawingml/2006/main">
              <a:ext uri="{FF2B5EF4-FFF2-40B4-BE49-F238E27FC236}">
                <a16:creationId xmlns:a16="http://schemas.microsoft.com/office/drawing/2014/main" id="{66C483CC-4776-42C5-AB05-96E97E1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F4F6F0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F4F6F0"/>
                </a:solidFill>
                <a:latin typeface="Georgia"/>
                <a:ea typeface="Georgia"/>
                <a:cs typeface="Georgia"/>
              </a:rPr>
              <a:t>Сверка отделяет запись от события</a:t>
            </a:r>
          </a:p>
        </p:txBody>
      </p:sp>
      <p:sp>
        <p:nvSpPr>
          <p:cNvPr id="3" name="11 записей leads">
            <a:extLst xmlns:a="http://schemas.openxmlformats.org/drawingml/2006/main">
              <a:ext uri="{FF2B5EF4-FFF2-40B4-BE49-F238E27FC236}">
                <a16:creationId xmlns:a16="http://schemas.microsoft.com/office/drawing/2014/main" id="{71BCEE01-AE3E-44BB-9EA9-2C3AC7C2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EAB64F"/>
                </a:solidFill>
                <a:latin typeface="Georgia"/>
                <a:ea typeface="Georgia"/>
                <a:cs typeface="Georgia"/>
              </a:rPr>
              <a:t>11 записей leads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9A350-8AAD-475F-B2EB-86661BEE483D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5715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809750"/>
              </a:tblGrid>
              <a:tr h="690563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Статус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Записей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</a:tr>
              <a:tr h="690563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new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690563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went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690563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lost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</a:tbl>
          </a:graphicData>
        </a:graphic>
      </p:graphicFrame>
      <p:sp>
        <p:nvSpPr>
          <p:cNvPr id="5" name="3 generate_lead">
            <a:extLst xmlns:a="http://schemas.openxmlformats.org/drawingml/2006/main">
              <a:ext uri="{FF2B5EF4-FFF2-40B4-BE49-F238E27FC236}">
                <a16:creationId xmlns:a16="http://schemas.microsoft.com/office/drawing/2014/main" id="{7D4A046C-B1AC-46AE-ACF9-B0023C0C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478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975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pPr>
            <a:r>
              <a:rPr sz="3975">
                <a:solidFill>
                  <a:srgbClr val="EAB64F"/>
                </a:solidFill>
                <a:latin typeface="Georgia"/>
                <a:ea typeface="Georgia"/>
                <a:cs typeface="Georgia"/>
              </a:rPr>
              <a:t>3 generate_lead</a:t>
            </a:r>
          </a:p>
        </p:txBody>
      </p:sp>
      <p:sp>
        <p:nvSpPr>
          <p:cNvPr id="6" name="Instagram: 2&#10;QR магазина: 1">
            <a:extLst xmlns:a="http://schemas.openxmlformats.org/drawingml/2006/main">
              <a:ext uri="{FF2B5EF4-FFF2-40B4-BE49-F238E27FC236}">
                <a16:creationId xmlns:a16="http://schemas.microsoft.com/office/drawing/2014/main" id="{D19EB670-31C9-40FF-BC5D-6581D480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Instagram: 2</a:t>
            </a:r>
          </a:p>
          <a:p xmlns:a="http://schemas.openxmlformats.org/drawingml/2006/main">
            <a:pPr algn="l">
              <a:defRPr sz="3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QR магазина: 1</a:t>
            </a:r>
          </a:p>
        </p:txBody>
      </p:sp>
      <p:sp>
        <p:nvSpPr>
          <p:cNvPr id="7" name="Обработанный срез 27–30.10&#10;Свежие с">
            <a:extLst xmlns:a="http://schemas.openxmlformats.org/drawingml/2006/main">
              <a:ext uri="{FF2B5EF4-FFF2-40B4-BE49-F238E27FC236}">
                <a16:creationId xmlns:a16="http://schemas.microsoft.com/office/drawing/2014/main" id="{B459FE32-2721-42B9-B24C-B1E399A0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958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Обработанный срез 27–30.10</a:t>
            </a:r>
          </a:p>
          <a:p xmlns:a="http://schemas.openxmlformats.org/drawingml/2006/main">
            <a:pPr algn="l">
              <a:defRPr sz="217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Свежие события проверяли в Realtime</a:t>
            </a:r>
          </a:p>
        </p:txBody>
      </p:sp>
      <p:sp>
        <p:nvSpPr>
          <p:cNvPr id="8" name="Исправление доставки события">
            <a:extLst xmlns:a="http://schemas.openxmlformats.org/drawingml/2006/main">
              <a:ext uri="{FF2B5EF4-FFF2-40B4-BE49-F238E27FC236}">
                <a16:creationId xmlns:a16="http://schemas.microsoft.com/office/drawing/2014/main" id="{FE1A40DA-1450-41A3-97E0-3D4F74F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62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Исправление доставки события</a:t>
            </a:r>
          </a:p>
        </p:txBody>
      </p:sp>
      <p:sp>
        <p:nvSpPr>
          <p:cNvPr id="9" name="ok:true  →  generate_lead  →  ожида">
            <a:extLst xmlns:a="http://schemas.openxmlformats.org/drawingml/2006/main">
              <a:ext uri="{FF2B5EF4-FFF2-40B4-BE49-F238E27FC236}">
                <a16:creationId xmlns:a16="http://schemas.microsoft.com/office/drawing/2014/main" id="{090C8104-EC8F-449D-9779-51BDC4D9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EAB64F"/>
                </a:solidFill>
                <a:latin typeface="Georgia"/>
                <a:ea typeface="Georgia"/>
                <a:cs typeface="Georgia"/>
              </a:defRPr>
            </a:pPr>
            <a:r>
              <a:rPr sz="2400">
                <a:solidFill>
                  <a:srgbClr val="EAB64F"/>
                </a:solidFill>
                <a:latin typeface="Georgia"/>
                <a:ea typeface="Georgia"/>
                <a:cs typeface="Georgia"/>
              </a:rPr>
              <a:t>ok:true  →  generate_lead  →  ожидание тега  →  переход</a:t>
            </a:r>
          </a:p>
        </p:txBody>
      </p:sp>
      <p:sp>
        <p:nvSpPr>
          <p:cNvPr id="10" name="Разницу не скрывали и не заполняли ">
            <a:extLst xmlns:a="http://schemas.openxmlformats.org/drawingml/2006/main">
              <a:ext uri="{FF2B5EF4-FFF2-40B4-BE49-F238E27FC236}">
                <a16:creationId xmlns:a16="http://schemas.microsoft.com/office/drawing/2014/main" id="{A355CAF5-B027-45DE-A2D0-BD4F75A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05750"/>
            <a:ext cx="1285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Разницу не скрывали и не заполняли прошлыми событиями.</a:t>
            </a:r>
          </a:p>
        </p:txBody>
      </p:sp>
    </p:spTree>
    <p:extLst>
      <p:ext uri="{BB962C8B-B14F-4D97-AF65-F5344CB8AC3E}">
        <p14:creationId xmlns:p14="http://schemas.microsoft.com/office/powerpoint/2010/main" val="960759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437D711D-E0E7-444F-8160-9699219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2" name="Что изменилось для турклуба">
            <a:extLst xmlns:a="http://schemas.openxmlformats.org/drawingml/2006/main">
              <a:ext uri="{FF2B5EF4-FFF2-40B4-BE49-F238E27FC236}">
                <a16:creationId xmlns:a16="http://schemas.microsoft.com/office/drawing/2014/main" id="{0833B2E9-2FF9-4041-9D0A-1BD8246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Что изменилось для турклуба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A30AB-DD90-4458-9C3F-AB59A5E1E6FF}"/>
              </a:ext>
            </a:extLst>
          </p:cNvPr>
          <p:cNvGraphicFramePr/>
          <p:nvPr/>
        </p:nvGraphicFramePr>
        <p:xfrm>
          <a:off xmlns:a="http://schemas.openxmlformats.org/drawingml/2006/main" x="762000" y="2095500"/>
          <a:ext xmlns:a="http://schemas.openxmlformats.org/drawingml/2006/main" cx="13716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7524750"/>
              </a:tblGrid>
              <a:tr h="723900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Было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Стало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T w="9525">
                      <a:solidFill>
                        <a:srgbClr val="D3DDD3"/>
                      </a:solidFill>
                    </a:lnT>
                    <a:lnB w="9525">
                      <a:solidFill>
                        <a:srgbClr val="D3DDD3"/>
                      </a:solidFill>
                    </a:lnB>
                    <a:solidFill>
                      <a:srgbClr val="193B39"/>
                    </a:solidFill>
                  </a:tcPr>
                </a:tc>
              </a:tr>
              <a:tr h="723900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Бронь в переписках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Одна таблица с датой и статусом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723900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Источник обращения неизвестен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UTM сохраняются вместе с заявкой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723900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Вопросы о снаряжении вручную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Чек-лист и калькулятор аренды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  <a:tr h="723900"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Комментарий ждёт ответа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3DDD3"/>
                      </a:solidFill>
                    </a:lnL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  <a:tc>
                  <a:txBody>
                    <a:bodyPr lIns="133350" tIns="133350" rIns="133350" bIns="133350"/>
                    <a:lstStyle/>
                    <a:p>
                      <a:r>
                        <a:rPr sz="2250">
                          <a:solidFill>
                            <a:srgbClr val="193B39"/>
                          </a:solidFill>
                          <a:latin typeface="Georgia"/>
                          <a:ea typeface="Georgia"/>
                          <a:cs typeface="Georgia"/>
                        </a:rPr>
                        <a:t>ManyChat отправляет материал в Direct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3DDD3"/>
                      </a:solidFill>
                    </a:lnR>
                    <a:lnB w="9525">
                      <a:solidFill>
                        <a:srgbClr val="D3DDD3"/>
                      </a:solidFill>
                    </a:lnB>
                    <a:solidFill>
                      <a:srgbClr val="F4F6F0"/>
                    </a:solidFill>
                  </a:tcPr>
                </a:tc>
              </a:tr>
            </a:tbl>
          </a:graphicData>
        </a:graphic>
      </p:graphicFrame>
      <p:sp>
        <p:nvSpPr>
          <p:cNvPr id="4" name="Рекомендация по данным">
            <a:extLst xmlns:a="http://schemas.openxmlformats.org/drawingml/2006/main">
              <a:ext uri="{FF2B5EF4-FFF2-40B4-BE49-F238E27FC236}">
                <a16:creationId xmlns:a16="http://schemas.microsoft.com/office/drawing/2014/main" id="{CE86E4C3-0E74-4F01-8B1A-6ACFA669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0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300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Рекомендация по данным</a:t>
            </a:r>
          </a:p>
        </p:txBody>
      </p:sp>
      <p:sp>
        <p:nvSpPr>
          <p:cNvPr id="5" name="Проверить короткую воронку на новых">
            <a:extLst xmlns:a="http://schemas.openxmlformats.org/drawingml/2006/main">
              <a:ext uri="{FF2B5EF4-FFF2-40B4-BE49-F238E27FC236}">
                <a16:creationId xmlns:a16="http://schemas.microsoft.com/office/drawing/2014/main" id="{1FF18C61-A3EB-4E36-9007-4FCA7166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33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Проверить короткую воронку на новых независимых сеансах.</a:t>
            </a:r>
          </a:p>
          <a:p xmlns:a="http://schemas.openxmlformats.org/drawingml/2006/main">
            <a:pPr algn="l">
              <a:defRPr sz="23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Перераспределять бюджет по этим учебным тестам рано.</a:t>
            </a:r>
          </a:p>
        </p:txBody>
      </p:sp>
    </p:spTree>
    <p:extLst>
      <p:ext uri="{BB962C8B-B14F-4D97-AF65-F5344CB8AC3E}">
        <p14:creationId xmlns:p14="http://schemas.microsoft.com/office/powerpoint/2010/main" val="831188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1">
            <a:extLst xmlns:a="http://schemas.openxmlformats.org/drawingml/2006/main">
              <a:ext uri="{FF2B5EF4-FFF2-40B4-BE49-F238E27FC236}">
                <a16:creationId xmlns:a16="http://schemas.microsoft.com/office/drawing/2014/main" id="{A89875C5-6A6B-4408-87F8-52DB94BD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2" name="Проверки превратили макет в рабочую">
            <a:extLst xmlns:a="http://schemas.openxmlformats.org/drawingml/2006/main">
              <a:ext uri="{FF2B5EF4-FFF2-40B4-BE49-F238E27FC236}">
                <a16:creationId xmlns:a16="http://schemas.microsoft.com/office/drawing/2014/main" id="{85097A6C-81B8-4A08-8730-1835AF99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4650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4650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Проверки превратили макет в рабочую форму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FABB3-AA97-488A-AF08-2CEB8F5B0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ae689926e441a"/>
          <a:stretch xmlns:a="http://schemas.openxmlformats.org/drawingml/2006/main"/>
        </p:blipFill>
        <p:spPr>
          <a:xfrm xmlns:a="http://schemas.openxmlformats.org/drawingml/2006/main">
            <a:off x="800365" y="2047875"/>
            <a:ext cx="3114146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Поле телефона с готовым +7">
            <a:extLst xmlns:a="http://schemas.openxmlformats.org/drawingml/2006/main">
              <a:ext uri="{FF2B5EF4-FFF2-40B4-BE49-F238E27FC236}">
                <a16:creationId xmlns:a16="http://schemas.microsoft.com/office/drawing/2014/main" id="{6239BD9A-8646-4842-A3D1-9F97D2F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3714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025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Поле телефона с готовым +7</a:t>
            </a:r>
          </a:p>
        </p:txBody>
      </p:sp>
      <p:sp>
        <p:nvSpPr>
          <p:cNvPr id="5" name="Что исправил">
            <a:extLst xmlns:a="http://schemas.openxmlformats.org/drawingml/2006/main">
              <a:ext uri="{FF2B5EF4-FFF2-40B4-BE49-F238E27FC236}">
                <a16:creationId xmlns:a16="http://schemas.microsoft.com/office/drawing/2014/main" id="{9F61800F-B2BA-4ED1-9BC9-3DA32B3C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30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30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Что исправил</a:t>
            </a:r>
          </a:p>
        </p:txBody>
      </p:sp>
      <p:sp>
        <p:nvSpPr>
          <p:cNvPr id="6" name="Формат номера +7&#10;Нативный form_subm">
            <a:extLst xmlns:a="http://schemas.openxmlformats.org/drawingml/2006/main">
              <a:ext uri="{FF2B5EF4-FFF2-40B4-BE49-F238E27FC236}">
                <a16:creationId xmlns:a16="http://schemas.microsoft.com/office/drawing/2014/main" id="{27BCA5B4-7BF2-40AD-B666-9CBE412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38500"/>
            <a:ext cx="4476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Формат номера +7</a:t>
            </a:r>
          </a:p>
          <a:p xmlns:a="http://schemas.openxmlformats.org/drawingml/2006/main">
            <a: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Нативный form_submit</a:t>
            </a:r>
          </a:p>
          <a:p xmlns:a="http://schemas.openxmlformats.org/drawingml/2006/main">
            <a:pPr algn="l">
              <a:defRPr sz="232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32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Ожидание тега до перехода</a:t>
            </a:r>
          </a:p>
        </p:txBody>
      </p:sp>
      <p:sp>
        <p:nvSpPr>
          <p:cNvPr id="7" name="Как использовал ИИ">
            <a:extLst xmlns:a="http://schemas.openxmlformats.org/drawingml/2006/main">
              <a:ext uri="{FF2B5EF4-FFF2-40B4-BE49-F238E27FC236}">
                <a16:creationId xmlns:a16="http://schemas.microsoft.com/office/drawing/2014/main" id="{B962F6F8-523D-4313-87F1-276E770D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7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Как использовал ИИ</a:t>
            </a:r>
          </a:p>
        </p:txBody>
      </p:sp>
      <p:sp>
        <p:nvSpPr>
          <p:cNvPr id="8" name="Вёрстка и дизайн&#10;JavaScript и Apps ">
            <a:extLst xmlns:a="http://schemas.openxmlformats.org/drawingml/2006/main">
              <a:ext uri="{FF2B5EF4-FFF2-40B4-BE49-F238E27FC236}">
                <a16:creationId xmlns:a16="http://schemas.microsoft.com/office/drawing/2014/main" id="{706D2C0D-C942-4137-89F2-21EB54BD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4191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Вёрстка и дизайн</a:t>
            </a:r>
          </a:p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JavaScript и Apps Script</a:t>
            </a:r>
          </a:p>
          <a:p xmlns:a="http://schemas.openxmlformats.org/drawingml/2006/main">
            <a:pPr algn="l">
              <a:defRPr sz="21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Формулы и документация</a:t>
            </a:r>
          </a:p>
        </p:txBody>
      </p:sp>
      <p:sp>
        <p:nvSpPr>
          <p:cNvPr id="9" name="Осталось ограничение GA4">
            <a:extLst xmlns:a="http://schemas.openxmlformats.org/drawingml/2006/main">
              <a:ext uri="{FF2B5EF4-FFF2-40B4-BE49-F238E27FC236}">
                <a16:creationId xmlns:a16="http://schemas.microsoft.com/office/drawing/2014/main" id="{2184DB75-C3F4-4985-8862-91DDE815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912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775">
                <a:solidFill>
                  <a:srgbClr val="193B39"/>
                </a:solidFill>
                <a:latin typeface="Georgia"/>
                <a:ea typeface="Georgia"/>
                <a:cs typeface="Georgia"/>
              </a:defRPr>
            </a:pPr>
            <a:r>
              <a:rPr sz="2775">
                <a:solidFill>
                  <a:srgbClr val="193B39"/>
                </a:solidFill>
                <a:latin typeface="Georgia"/>
                <a:ea typeface="Georgia"/>
                <a:cs typeface="Georgia"/>
              </a:rPr>
              <a:t>Осталось ограничение GA4</a:t>
            </a:r>
          </a:p>
        </p:txBody>
      </p:sp>
      <p:sp>
        <p:nvSpPr>
          <p:cNvPr id="10" name="Session source недоступен в констру">
            <a:extLst xmlns:a="http://schemas.openxmlformats.org/drawingml/2006/main">
              <a:ext uri="{FF2B5EF4-FFF2-40B4-BE49-F238E27FC236}">
                <a16:creationId xmlns:a16="http://schemas.microsoft.com/office/drawing/2014/main" id="{B1572763-41B6-4692-B075-EFEC7DD1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7143750"/>
            <a:ext cx="914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defPPr>
            <a:lvl1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Session source недоступен в конструкторе оповещений.</a:t>
            </a:r>
          </a:p>
          <a:p xmlns:a="http://schemas.openxmlformats.org/drawingml/2006/main">
            <a:pPr algn="l">
              <a:defRPr sz="2100">
                <a:solidFill>
                  <a:srgbClr val="58716A"/>
                </a:solidFill>
                <a:latin typeface="Georgia"/>
                <a:ea typeface="Georgia"/>
                <a:cs typeface="Georgia"/>
              </a:defRPr>
            </a:pPr>
            <a:r>
              <a:rPr sz="2100">
                <a:solidFill>
                  <a:srgbClr val="58716A"/>
                </a:solidFill>
                <a:latin typeface="Georgia"/>
                <a:ea typeface="Georgia"/>
                <a:cs typeface="Georgia"/>
              </a:rPr>
              <a:t>Условие первого привлечения не подменяет источник сеанса.</a:t>
            </a:r>
          </a:p>
        </p:txBody>
      </p:sp>
    </p:spTree>
    <p:extLst>
      <p:ext uri="{BB962C8B-B14F-4D97-AF65-F5344CB8AC3E}">
        <p14:creationId xmlns:p14="http://schemas.microsoft.com/office/powerpoint/2010/main" val="1359210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3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F7E501D4-5806-4FC2-A3D0-AD383080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85812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defPPr>
            <a:lvl1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1pPr>
            <a:lvl2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2pPr>
            <a:lvl3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3pPr>
            <a:lvl4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4pPr>
            <a:lvl5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5pPr>
            <a:lvl6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6pPr>
            <a:lvl7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7pPr>
            <a:lvl8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8pPr>
            <a:lvl9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defRPr sz="2025">
                <a:solidFill>
                  <a:srgbClr val="C8D5CC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C8D5CC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5BE17-25CA-4493-8DD8-07EE07648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c520f901545d3"/>
          <a:stretch xmlns:a="http://schemas.openxmlformats.org/drawingml/2006/main"/>
        </p:blipFill>
        <p:spPr>
          <a:xfrm xmlns:a="http://schemas.openxmlformats.org/drawingml/2006/main">
            <a:off x="685800" y="526428"/>
            <a:ext cx="3190875" cy="814043"/>
          </a:xfrm>
          <a:prstGeom xmlns:a="http://schemas.openxmlformats.org/drawingml/2006/main" prst="rect">
            <a:avLst/>
          </a:prstGeom>
        </p:spPr>
      </p:pic>
      <p:sp>
        <p:nvSpPr>
          <p:cNvPr id="3" name="До встречи&#10;на тропе">
            <a:extLst xmlns:a="http://schemas.openxmlformats.org/drawingml/2006/main">
              <a:ext uri="{FF2B5EF4-FFF2-40B4-BE49-F238E27FC236}">
                <a16:creationId xmlns:a16="http://schemas.microsoft.com/office/drawing/2014/main" id="{BDCE6889-0A19-4D23-84FB-7B64F29D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857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75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До встречи</a:t>
            </a:r>
          </a:p>
          <a:p xmlns:a="http://schemas.openxmlformats.org/drawingml/2006/main">
            <a:pPr algn="l">
              <a:defRPr sz="67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75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на тропе</a:t>
            </a:r>
          </a:p>
        </p:txBody>
      </p:sp>
      <p:sp>
        <p:nvSpPr>
          <p:cNvPr id="4" name="tz-11-turklub-tropa-phi.vercel.app">
            <a:extLst xmlns:a="http://schemas.openxmlformats.org/drawingml/2006/main">
              <a:ext uri="{FF2B5EF4-FFF2-40B4-BE49-F238E27FC236}">
                <a16:creationId xmlns:a16="http://schemas.microsoft.com/office/drawing/2014/main" id="{B77ECADD-4B39-4DE2-A88C-973C99C5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u="sng">
                <a:solidFill>
                  <a:srgbClr val="FFFFFF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665dcaf7cd7f4c20"/>
              </a:rPr>
              <a:t>tz-11-turklub-tropa-phi.vercel.app</a:t>
            </a:r>
          </a:p>
        </p:txBody>
      </p:sp>
      <p:sp>
        <p:nvSpPr>
          <p:cNvPr id="5" name="github.com/Resolushh/tz-11-turklub-">
            <a:extLst xmlns:a="http://schemas.openxmlformats.org/drawingml/2006/main">
              <a:ext uri="{FF2B5EF4-FFF2-40B4-BE49-F238E27FC236}">
                <a16:creationId xmlns:a16="http://schemas.microsoft.com/office/drawing/2014/main" id="{B0FA88F4-4649-458B-9CB2-6E706CB7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572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u="sng">
                <a:solidFill>
                  <a:srgbClr val="FFFFFF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a87a2c260fae41af"/>
              </a:rPr>
              <a:t>github.com/Resolushh/tz-11-turklub-tropa</a:t>
            </a:r>
          </a:p>
        </p:txBody>
      </p:sp>
      <p:sp>
        <p:nvSpPr>
          <p:cNvPr id="6" name="Текст доклада и заметки">
            <a:extLst xmlns:a="http://schemas.openxmlformats.org/drawingml/2006/main">
              <a:ext uri="{FF2B5EF4-FFF2-40B4-BE49-F238E27FC236}">
                <a16:creationId xmlns:a16="http://schemas.microsoft.com/office/drawing/2014/main" id="{17100DE0-879F-4C92-9032-8BA664A4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u="sng">
                <a:solidFill>
                  <a:srgbClr val="FFFFFF"/>
                </a:solidFill>
                <a:latin typeface="Georgia"/>
                <a:ea typeface="Georgia"/>
                <a:cs typeface="Georgia"/>
                <a:hlinkClick xmlns:r="http://schemas.openxmlformats.org/officeDocument/2006/relationships" r:id="R31222055e39045ec"/>
              </a:rPr>
              <a:t>Текст доклада и заметки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3E889-8F1A-49BB-BFF8-516469E50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56b5864d8423a"/>
          <a:stretch xmlns:a="http://schemas.openxmlformats.org/drawingml/2006/main"/>
        </p:blipFill>
        <p:spPr>
          <a:xfrm xmlns:a="http://schemas.openxmlformats.org/drawingml/2006/main">
            <a:off x="10763250" y="2857500"/>
            <a:ext cx="3524250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Код и доказательства">
            <a:extLst xmlns:a="http://schemas.openxmlformats.org/drawingml/2006/main">
              <a:ext uri="{FF2B5EF4-FFF2-40B4-BE49-F238E27FC236}">
                <a16:creationId xmlns:a16="http://schemas.microsoft.com/office/drawing/2014/main" id="{065B6FB7-B471-4C7D-A11A-944CAAC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627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Код и доказательства</a:t>
            </a:r>
          </a:p>
        </p:txBody>
      </p:sp>
    </p:spTree>
    <p:extLst>
      <p:ext uri="{BB962C8B-B14F-4D97-AF65-F5344CB8AC3E}">
        <p14:creationId xmlns:p14="http://schemas.microsoft.com/office/powerpoint/2010/main" val="430558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2026-10-30T02:22:23.2490000Z</dcterms:created>
  <dcterms:modified xsi:type="dcterms:W3CDTF">2026-10-30T02:22:23.2490000Z</dcterms:modified>
</coreProperties>
</file>