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067040a2b5d44cd" /><Relationship Type="http://schemas.openxmlformats.org/officeDocument/2006/relationships/extended-properties" Target="/docProps/app.xml" Id="R1eaec3e266f74f69" /><Relationship Type="http://schemas.openxmlformats.org/officeDocument/2006/relationships/officeDocument" Target="/ppt/presentation.xml" Id="R0dbb2aa3ca73480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aadf656423a4113"/>
  </p:sldMasterIdLst>
  <p:notesMasterIdLst>
    <p:notesMasterId xmlns:r="http://schemas.openxmlformats.org/officeDocument/2006/relationships" r:id="R6c1af2b2473c4df9"/>
  </p:notesMasterIdLst>
  <p:sldIdLst>
    <p:sldId xmlns:r="http://schemas.openxmlformats.org/officeDocument/2006/relationships" id="256" r:id="Rd61d5771b2724af0"/>
    <p:sldId xmlns:r="http://schemas.openxmlformats.org/officeDocument/2006/relationships" id="257" r:id="Rc1b434ad31f0426d"/>
    <p:sldId xmlns:r="http://schemas.openxmlformats.org/officeDocument/2006/relationships" id="258" r:id="R550469edbc4e4329"/>
    <p:sldId xmlns:r="http://schemas.openxmlformats.org/officeDocument/2006/relationships" id="259" r:id="R9b6b53c471974ecf"/>
    <p:sldId xmlns:r="http://schemas.openxmlformats.org/officeDocument/2006/relationships" id="260" r:id="R2c81910220494d36"/>
    <p:sldId xmlns:r="http://schemas.openxmlformats.org/officeDocument/2006/relationships" id="261" r:id="Re7502edacc654f70"/>
    <p:sldId xmlns:r="http://schemas.openxmlformats.org/officeDocument/2006/relationships" id="262" r:id="Rd98da1a97f154047"/>
    <p:sldId xmlns:r="http://schemas.openxmlformats.org/officeDocument/2006/relationships" id="263" r:id="R8c10466b6cae4245"/>
    <p:sldId xmlns:r="http://schemas.openxmlformats.org/officeDocument/2006/relationships" id="264" r:id="R309fa70cc71c4eb2"/>
    <p:sldId xmlns:r="http://schemas.openxmlformats.org/officeDocument/2006/relationships" id="265" r:id="Reeeb1e147da54b14"/>
    <p:sldId xmlns:r="http://schemas.openxmlformats.org/officeDocument/2006/relationships" id="266" r:id="R76294f28373f4b13"/>
    <p:sldId xmlns:r="http://schemas.openxmlformats.org/officeDocument/2006/relationships" id="267" r:id="R89a756ade7f64455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4b159befeb2457f" /><Relationship Type="http://schemas.openxmlformats.org/officeDocument/2006/relationships/slideMaster" Target="/ppt/slideMasters/slideMaster1.xml" Id="Raaadf656423a4113" /><Relationship Type="http://schemas.openxmlformats.org/officeDocument/2006/relationships/notesMaster" Target="/ppt/notesMasters/notesMaster1.xml" Id="R6c1af2b2473c4df9" /><Relationship Type="http://schemas.openxmlformats.org/officeDocument/2006/relationships/presProps" Target="/ppt/presProps.xml" Id="R5f8eb32aa1074ef9" /><Relationship Type="http://schemas.openxmlformats.org/officeDocument/2006/relationships/tableStyles" Target="/ppt/tableStyles.xml" Id="R0b51448caae143e5" /><Relationship Type="http://schemas.openxmlformats.org/officeDocument/2006/relationships/slide" Target="/ppt/slides/slide1.xml" Id="Rd61d5771b2724af0" /><Relationship Type="http://schemas.openxmlformats.org/officeDocument/2006/relationships/slide" Target="/ppt/slides/slide2.xml" Id="Rc1b434ad31f0426d" /><Relationship Type="http://schemas.openxmlformats.org/officeDocument/2006/relationships/slide" Target="/ppt/slides/slide3.xml" Id="R550469edbc4e4329" /><Relationship Type="http://schemas.openxmlformats.org/officeDocument/2006/relationships/slide" Target="/ppt/slides/slide4.xml" Id="R9b6b53c471974ecf" /><Relationship Type="http://schemas.openxmlformats.org/officeDocument/2006/relationships/slide" Target="/ppt/slides/slide5.xml" Id="R2c81910220494d36" /><Relationship Type="http://schemas.openxmlformats.org/officeDocument/2006/relationships/slide" Target="/ppt/slides/slide6.xml" Id="Re7502edacc654f70" /><Relationship Type="http://schemas.openxmlformats.org/officeDocument/2006/relationships/slide" Target="/ppt/slides/slide7.xml" Id="Rd98da1a97f154047" /><Relationship Type="http://schemas.openxmlformats.org/officeDocument/2006/relationships/slide" Target="/ppt/slides/slide8.xml" Id="R8c10466b6cae4245" /><Relationship Type="http://schemas.openxmlformats.org/officeDocument/2006/relationships/slide" Target="/ppt/slides/slide9.xml" Id="R309fa70cc71c4eb2" /><Relationship Type="http://schemas.openxmlformats.org/officeDocument/2006/relationships/slide" Target="/ppt/slides/slide10.xml" Id="Reeeb1e147da54b14" /><Relationship Type="http://schemas.openxmlformats.org/officeDocument/2006/relationships/slide" Target="/ppt/slides/slide11.xml" Id="R76294f28373f4b13" /><Relationship Type="http://schemas.openxmlformats.org/officeDocument/2006/relationships/slide" Target="/ppt/slides/slide12.xml" Id="R89a756ade7f6445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7a710faf077491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638c1617db04774" /><Relationship Type="http://schemas.openxmlformats.org/officeDocument/2006/relationships/notesMaster" Target="/ppt/notesMasters/notesMaster1.xml" Id="Rbdba50aac2c847f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793c38531544354" /><Relationship Type="http://schemas.openxmlformats.org/officeDocument/2006/relationships/notesMaster" Target="/ppt/notesMasters/notesMaster1.xml" Id="R7c6f2c6718fa4ac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e126574237f4b8c" /><Relationship Type="http://schemas.openxmlformats.org/officeDocument/2006/relationships/notesMaster" Target="/ppt/notesMasters/notesMaster1.xml" Id="R9a000bc6b89142d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e85afcb088d45c8" /><Relationship Type="http://schemas.openxmlformats.org/officeDocument/2006/relationships/notesMaster" Target="/ppt/notesMasters/notesMaster1.xml" Id="R1b7d0875e21b406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a1a99e0dbfc465b" /><Relationship Type="http://schemas.openxmlformats.org/officeDocument/2006/relationships/notesMaster" Target="/ppt/notesMasters/notesMaster1.xml" Id="R84beeb853555405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f89e074026548cc" /><Relationship Type="http://schemas.openxmlformats.org/officeDocument/2006/relationships/notesMaster" Target="/ppt/notesMasters/notesMaster1.xml" Id="R783f0ddca0c941e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4e729b21fbe4680" /><Relationship Type="http://schemas.openxmlformats.org/officeDocument/2006/relationships/notesMaster" Target="/ppt/notesMasters/notesMaster1.xml" Id="R598c904802c2428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922248384414382" /><Relationship Type="http://schemas.openxmlformats.org/officeDocument/2006/relationships/notesMaster" Target="/ppt/notesMasters/notesMaster1.xml" Id="Rf2291827c064459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cbb32ed14b1432c" /><Relationship Type="http://schemas.openxmlformats.org/officeDocument/2006/relationships/notesMaster" Target="/ppt/notesMasters/notesMaster1.xml" Id="Ree43d3177cd8473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aa030bd001a48ef" /><Relationship Type="http://schemas.openxmlformats.org/officeDocument/2006/relationships/notesMaster" Target="/ppt/notesMasters/notesMaster1.xml" Id="Rf41a889f11d34ad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2c59416eb134185" /><Relationship Type="http://schemas.openxmlformats.org/officeDocument/2006/relationships/notesMaster" Target="/ppt/notesMasters/notesMaster1.xml" Id="R11934cb5d2724e7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442773527fb424d" /><Relationship Type="http://schemas.openxmlformats.org/officeDocument/2006/relationships/notesMaster" Target="/ppt/notesMasters/notesMaster1.xml" Id="R145cd34b35c54e1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Время: 0:15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Мой проект посвящён турклубу «Тропа». Я разработал сайт зимних походов и связал его с учётом заявок и аналитикой. Покажу сам продукт и подтверждённый путь посетителя до бронирования.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</a:t>
            </a:r>
          </a:p>
          <a:p xmlns:a="http://schemas.openxmlformats.org/drawingml/2006/main">
            <a:r>
              <a:t>https://github.com/Resolushh/tz-11-turklub-tropa/blob/main/docs/opisanie.md</a:t>
            </a:r>
          </a:p>
          <a:p xmlns:a="http://schemas.openxmlformats.org/drawingml/2006/main">
            <a:r>
              <a:t>https://github.com/Resolushh/tz-11-turklub-tropa/blob/main/img/brand/SOURCE.md</a:t>
            </a:r>
          </a:p>
          <a:p xmlns:a="http://schemas.openxmlformats.org/drawingml/2006/main">
            <a:r>
              <a:t>https://www.pexels.com/photo/majestic-snowy-mountains-at-sunrise-31348071/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Время: 0:30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 письму заказчика, в сентябре 58 человек написали в группы без свободных мест и не получили альтернативную дату. Зимой клуб запускает шесть маршрутов. Новички также часто спрашивают о снаряжении. Поэтому нужны понятный выбор маршрута и даты, расчёт аренды и единый учёт обращений. Эти числа описывают учебный кейс, а не результаты моей работы.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</a:t>
            </a:r>
          </a:p>
          <a:p xmlns:a="http://schemas.openxmlformats.org/drawingml/2006/main">
            <a:r>
              <a:t>ТЗ-11/2026, страницы 2–3</a:t>
            </a:r>
          </a:p>
          <a:p xmlns:a="http://schemas.openxmlformats.org/drawingml/2006/main">
            <a:r>
              <a:t>https://github.com/Resolushh/tz-11-turklub-tropa/blob/main/docs/route-photos.md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Время: 0:35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Посетитель приходит по ссылке с UTM из социальной сети или по QR. В Instagram комментарий запускает ManyChat, который отправляет кнопку на нужную страницу. Сайт передаёт действия в GA4, а форму отправляет в Apps Script. Скрипт проверяет данные и записывает заявку в Google Таблицу. Здесь показаны сервисы, которые действительно использует проект.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</a:t>
            </a:r>
          </a:p>
          <a:p xmlns:a="http://schemas.openxmlformats.org/drawingml/2006/main">
            <a:r>
              <a:t>https://github.com/Resolushh/tz-11-turklub-tropa/blob/main/docs/scheme.png</a:t>
            </a:r>
          </a:p>
          <a:p xmlns:a="http://schemas.openxmlformats.org/drawingml/2006/main">
            <a:r>
              <a:t>https://github.com/Resolushh/tz-11-turklub-tropa/blob/main/docs/setup.md</a:t>
            </a:r>
          </a:p>
          <a:p xmlns:a="http://schemas.openxmlformats.org/drawingml/2006/main">
            <a:r>
              <a:t>https://github.com/Resolushh/tz-11-turklub-tropa/blob/main/docs/decisions.md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Время: 0:40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Сайт включает восемь основных страниц и страницу ошибки. Пользователь выбирает один из шести маршрутов, дату выезда и число участников. Есть фильтры, калькулятор аренды, чек-лист и промокод SNOW300. Для дизайна использовал логотип с двумя вершинами, фотографии на всю ширину и светлый фон. Проверил адаптивность. Мобильный замер Lighthouse дал 72 за производительность и по 100 за доступность, рекомендации и SEO.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</a:t>
            </a:r>
          </a:p>
          <a:p xmlns:a="http://schemas.openxmlformats.org/drawingml/2006/main">
            <a:r>
              <a:t>https://github.com/Resolushh/tz-11-turklub-tropa/blob/main/docs/design-published.md</a:t>
            </a:r>
          </a:p>
          <a:p xmlns:a="http://schemas.openxmlformats.org/drawingml/2006/main">
            <a:r>
              <a:t>https://github.com/Resolushh/tz-11-turklub-tropa/blob/main/screens/lighthouse/mobile-2026-10-29.png</a:t>
            </a:r>
          </a:p>
          <a:p xmlns:a="http://schemas.openxmlformats.org/drawingml/2006/main">
            <a:r>
              <a:t>https://github.com/Resolushh/tz-11-turklub-tropa/blob/main/docs/demo-data.md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Время: 0:50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Эта заявка подтверждает полный путь из Instagram. В таблице сохранились источник instagram, канал social, кампания winter_trips_2026 и содержание reel_tent_01. Номер заявки начинается с REQ-478ab710. Запись создана 30 октября в 01:11:32. Отдельный кадр Realtime показывает generate_lead, а параметр lead_source содержит instagram. Строка в таблице подтверждает серверную запись, событие подтверждает поступление браузерной команды в GA4.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</a:t>
            </a:r>
          </a:p>
          <a:p xmlns:a="http://schemas.openxmlformats.org/drawingml/2006/main">
            <a:r>
              <a:t>https://github.com/Resolushh/tz-11-turklub-tropa/blob/main/docs/manychat.md</a:t>
            </a:r>
          </a:p>
          <a:p xmlns:a="http://schemas.openxmlformats.org/drawingml/2006/main">
            <a:r>
              <a:t>https://github.com/Resolushh/tz-11-turklub-tropa/blob/main/docs/reports/reconciliation-2026-10-30.md</a:t>
            </a:r>
          </a:p>
          <a:p xmlns:a="http://schemas.openxmlformats.org/drawingml/2006/main">
            <a:r>
              <a:t>Заявка REQ-478ab710-1a45-439c-bd01-6b63fe04ebd8</a:t>
            </a:r>
          </a:p>
          <a:p xmlns:a="http://schemas.openxmlformats.org/drawingml/2006/main">
            <a:r>
              <a:t>Скриншоты пользователя c1911570 и c22cceac, 30.10.2026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Время: 0:40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Под опубликованным Reel работают две ветки ManyChat. Слово СНАРЯГА отправляет чек-лист и калькулятор аренды. Слово НОВИЧОК ведёт к трём лёгким маршрутам. Для обеих веток подтверждены комментарий, личное сообщение и переход на сайт. Кнопки используют разные UTM-кампании. Полный путь до заявки отдельно проверен для СНАРЯГА. Для НОВИЧОК подтверждение заканчивается страницей маршрутов.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</a:t>
            </a:r>
          </a:p>
          <a:p xmlns:a="http://schemas.openxmlformats.org/drawingml/2006/main">
            <a:r>
              <a:t>https://github.com/Resolushh/tz-11-turklub-tropa/blob/main/docs/manychat.md</a:t>
            </a:r>
          </a:p>
          <a:p xmlns:a="http://schemas.openxmlformats.org/drawingml/2006/main">
            <a:r>
              <a:t>https://www.instagram.com/reel/DfFy1SzKrMz/</a:t>
            </a:r>
          </a:p>
          <a:p xmlns:a="http://schemas.openxmlformats.org/drawingml/2006/main">
            <a:r>
              <a:t>https://github.com/Resolushh/tz-11-turklub-tropa/blob/main/screens/instagram/comment-replies.png</a:t>
            </a:r>
          </a:p>
          <a:p xmlns:a="http://schemas.openxmlformats.org/drawingml/2006/main">
            <a:r>
              <a:t>https://github.com/Resolushh/tz-11-turklub-tropa/blob/main/screens/instagram/dm-gear.png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Время: 0:40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В последнем сохранённом обработанном отчёте за 27–30 октября указано 17 сеансов. Instagram и прямой трафик имеют по семь сеансов, QR магазина — два. Я не подгонял строки под итог: в отчёте есть not set и внутридневная несогласованность. По совокупности проверок подтверждены 20 имён событий и семь специальных параметров. Ключевые события проекта — generate_lead, contact_click и messenger_click.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</a:t>
            </a:r>
          </a:p>
          <a:p xmlns:a="http://schemas.openxmlformats.org/drawingml/2006/main">
            <a:r>
              <a:t>https://github.com/Resolushh/tz-11-turklub-tropa/blob/main/docs/report.md</a:t>
            </a:r>
          </a:p>
          <a:p xmlns:a="http://schemas.openxmlformats.org/drawingml/2006/main">
            <a:r>
              <a:t>https://github.com/Resolushh/tz-11-turklub-tropa/blob/main/docs/events.md</a:t>
            </a:r>
          </a:p>
          <a:p xmlns:a="http://schemas.openxmlformats.org/drawingml/2006/main">
            <a:r>
              <a:t>https://github.com/Resolushh/tz-11-turklub-tropa/blob/main/docs/proofs/final-check-2026-10-30/reconciliation-report-2026-10-30.png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Время: 0:40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В сохранённой воронке за 27–29 октября один Instagram-пользователь прошёл все пять шагов: просмотр, фильтр, кнопка, начало формы и заявка. У Direct три пользователя на первом шаге и ни одного на фильтре. Это не доказывает отказ: посетитель мог открыть форму напрямую. Моя гипотеза — дополнительно сравнить короткую воронку просмотра, начала формы и заявки на новых тестовых сеансах. По одному тесту делать вывод об эффективности канала нельзя.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</a:t>
            </a:r>
          </a:p>
          <a:p xmlns:a="http://schemas.openxmlformats.org/drawingml/2006/main">
            <a:r>
              <a:t>https://github.com/Resolushh/tz-11-turklub-tropa/blob/main/docs/report.md</a:t>
            </a:r>
          </a:p>
          <a:p xmlns:a="http://schemas.openxmlformats.org/drawingml/2006/main">
            <a:r>
              <a:t>https://github.com/Resolushh/tz-11-turklub-tropa/blob/main/docs/proofs/ga4-refresh-2026-10-29/funnel-open.png</a:t>
            </a:r>
          </a:p>
          <a:p xmlns:a="http://schemas.openxmlformats.org/drawingml/2006/main">
            <a:r>
              <a:t>https://github.com/Resolushh/tz-11-turklub-tropa/blob/main/docs/reports/paths-2026-10-29.pdf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Время: 0:45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В последней прочитанной таблице 11 записей, включая учебные QA-проверки. В обработанном отчёте GA4 сохранены три generate_lead. Эти значения нельзя объявлять совпавшими. Два свежих события проверяли отдельно в Realtime, затем добавили тест доставки. Я исправил завершение формы и добавил ограниченное ожидание обработки события перед переходом. Это уменьшает риск обрыва команды, но блокировки и задержки всё равно возможны. Исторические события задним числом не восстанавливал.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</a:t>
            </a:r>
          </a:p>
          <a:p xmlns:a="http://schemas.openxmlformats.org/drawingml/2006/main">
            <a:r>
              <a:t>https://github.com/Resolushh/tz-11-turklub-tropa/blob/main/docs/reports/reconciliation-2026-10-30.md</a:t>
            </a:r>
          </a:p>
          <a:p xmlns:a="http://schemas.openxmlformats.org/drawingml/2006/main">
            <a:r>
              <a:t>https://github.com/Resolushh/tz-11-turklub-tropa/blob/main/docs/reports/lead-delivery-fix-2026-10-30.md</a:t>
            </a:r>
          </a:p>
          <a:p xmlns:a="http://schemas.openxmlformats.org/drawingml/2006/main">
            <a:r>
              <a:t>https://github.com/Resolushh/tz-11-turklub-tropa/blob/main/docs/report.md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Время: 0:35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Результат проекта — готовые инструменты для выбора похода и обработки обращений. Календарь помогает увидеть другие даты. Таблица хранит маршрут, участников, источник и статус. Чек-лист и калькулятор снимают часть повторяющихся вопросов о снаряжении. Следующая рекомендация — провести новые независимые тесты короткой воронки и отдельно проверить доставку событий. Рост продаж и снижение потерь я не заявляю: реальных продаж в учебном проекте нет.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</a:t>
            </a:r>
          </a:p>
          <a:p xmlns:a="http://schemas.openxmlformats.org/drawingml/2006/main">
            <a:r>
              <a:t>https://github.com/Resolushh/tz-11-turklub-tropa/blob/main/docs/opisanie.md</a:t>
            </a:r>
          </a:p>
          <a:p xmlns:a="http://schemas.openxmlformats.org/drawingml/2006/main">
            <a:r>
              <a:t>https://github.com/Resolushh/tz-11-turklub-tropa/blob/main/docs/report.md</a:t>
            </a:r>
          </a:p>
          <a:p xmlns:a="http://schemas.openxmlformats.org/drawingml/2006/main">
            <a:r>
              <a:t>https://github.com/Resolushh/tz-11-turklub-tropa/blob/main/docs/route-photos.md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Время: 0:30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ИИ помогал с вёрсткой, кодом, формулами и документацией. В ходе проверок пришлось исправить формат телефона, нативное завершение формы и ожидание события перед переходом. Журнал основных запросов сохранён. Из ограничений осталось точное оповещение по Session source: доступный конструктор предлагает источник первого привлечения, поэтому я не подменял условие другим. Отдельно документировано историческое расхождение заявок и событий.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</a:t>
            </a:r>
          </a:p>
          <a:p xmlns:a="http://schemas.openxmlformats.org/drawingml/2006/main">
            <a:r>
              <a:t>https://github.com/Resolushh/tz-11-turklub-tropa/blob/main/docs/prompts.md</a:t>
            </a:r>
          </a:p>
          <a:p xmlns:a="http://schemas.openxmlformats.org/drawingml/2006/main">
            <a:r>
              <a:t>https://github.com/Resolushh/tz-11-turklub-tropa/blob/main/docs/reports/custom-insight-limitation-2026-10-30.md</a:t>
            </a:r>
          </a:p>
          <a:p xmlns:a="http://schemas.openxmlformats.org/drawingml/2006/main">
            <a:r>
              <a:t>https://github.com/Resolushh/tz-11-turklub-tropa/blob/main/docs/reports/lead-delivery-fix-2026-10-30.md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Время: 0:10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 QR открывается репозиторий с сайтом, исходниками и доказательствами проверок. Спасибо за внимание. Готов показать путь заявки и ответить на вопросы по реализации.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</a:t>
            </a:r>
          </a:p>
          <a:p xmlns:a="http://schemas.openxmlformats.org/drawingml/2006/main">
            <a:r>
              <a:t>https://github.com/Resolushh/tz-11-turklub-tropa</a:t>
            </a:r>
          </a:p>
          <a:p xmlns:a="http://schemas.openxmlformats.org/drawingml/2006/main">
            <a:r>
              <a:t>https://github.com/Resolushh/tz-11-turklub-tropa/blob/main/docs/verification.md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abe2bbde431430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2dcc3c615d540d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e8a052f53cf4a0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51e78e09d0f4cd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81720b2c53453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6ef454ae25c4c9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EEEA0E4-98D9-484D-93DE-E80176B6E17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524000" y="3238500"/>
            <a:ext cx="12192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B841D5D2-7C8E-4C5A-8366-DD2577CEFBB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286000" y="4714875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B0B7B0B8-DB93-4299-8877-9581487C8F4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524000" y="3571875"/>
            <a:ext cx="12192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43D7355-DB49-4DA5-9836-E7AE54F499B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57250" y="666750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F30E26B-471B-499F-8009-43A39009F5A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57250" y="2381250"/>
            <a:ext cx="13525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66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047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428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09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190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571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952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333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8766547-185F-41C3-943D-033C101ABC1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57250" y="666750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9D2733E-30C3-4EEE-9DBA-99B847852C7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57250" y="2381250"/>
            <a:ext cx="6286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66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047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428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09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190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571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952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333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5FE1FC23-E206-4ED2-84C9-5C4DBF23A2B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096250" y="2381250"/>
            <a:ext cx="6286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66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047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428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09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190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571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952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333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70A7F3A-6DBF-4F7F-974D-16F242EBCB5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57250" y="666750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083A0D2-AA23-4889-AB19-92F4B992312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57250" y="2381250"/>
            <a:ext cx="6286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66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047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428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09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190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571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952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333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fb74a60cb9f4fec" /><Relationship Type="http://schemas.openxmlformats.org/officeDocument/2006/relationships/slideLayout" Target="/ppt/slideLayouts/slideLayout1.xml" Id="Rdbac4002911d4769" /><Relationship Type="http://schemas.openxmlformats.org/officeDocument/2006/relationships/slideLayout" Target="/ppt/slideLayouts/slideLayout2.xml" Id="Re9b72c27fd0c4a32" /><Relationship Type="http://schemas.openxmlformats.org/officeDocument/2006/relationships/slideLayout" Target="/ppt/slideLayouts/slideLayout3.xml" Id="R62f76e41bfd84b25" /><Relationship Type="http://schemas.openxmlformats.org/officeDocument/2006/relationships/slideLayout" Target="/ppt/slideLayouts/slideLayout4.xml" Id="R000347712ff548ed" /><Relationship Type="http://schemas.openxmlformats.org/officeDocument/2006/relationships/slideLayout" Target="/ppt/slideLayouts/slideLayout5.xml" Id="R3ba8194d1e4d415c" /><Relationship Type="http://schemas.openxmlformats.org/officeDocument/2006/relationships/slideLayout" Target="/ppt/slideLayouts/slideLayout6.xml" Id="R1d2a5b6922b042d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bac4002911d4769"/>
    <p:sldLayoutId xmlns:r="http://schemas.openxmlformats.org/officeDocument/2006/relationships" id="2147483650" r:id="Re9b72c27fd0c4a32"/>
    <p:sldLayoutId xmlns:r="http://schemas.openxmlformats.org/officeDocument/2006/relationships" id="2147483651" r:id="R62f76e41bfd84b25"/>
    <p:sldLayoutId xmlns:r="http://schemas.openxmlformats.org/officeDocument/2006/relationships" id="2147483652" r:id="R000347712ff548ed"/>
    <p:sldLayoutId xmlns:r="http://schemas.openxmlformats.org/officeDocument/2006/relationships" id="2147483653" r:id="R3ba8194d1e4d415c"/>
    <p:sldLayoutId xmlns:r="http://schemas.openxmlformats.org/officeDocument/2006/relationships" id="2147483654" r:id="R1d2a5b6922b042d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f2dbde53d2d43b4" /><Relationship Type="http://schemas.openxmlformats.org/officeDocument/2006/relationships/image" Target="/ppt/media/image.jpeg" Id="Ra4291b30e4f54198" /><Relationship Type="http://schemas.openxmlformats.org/officeDocument/2006/relationships/image" Target="/ppt/media/image.png" Id="Rd6e387c4b0e644b2" /><Relationship Type="http://schemas.openxmlformats.org/officeDocument/2006/relationships/notesSlide" Target="/ppt/notesSlides/notesSlide1.xml" Id="Rf11faa979cd440e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afa169b3c564f7e" /><Relationship Type="http://schemas.openxmlformats.org/officeDocument/2006/relationships/image" Target="/ppt/media/image2.jpeg" Id="Rb86ec2b458534757" /><Relationship Type="http://schemas.openxmlformats.org/officeDocument/2006/relationships/notesSlide" Target="/ppt/notesSlides/notesSlide2.xml" Id="R7b839266b05b42a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79df77cf342400f" /><Relationship Type="http://schemas.openxmlformats.org/officeDocument/2006/relationships/notesSlide" Target="/ppt/notesSlides/notesSlide3.xml" Id="Raac6248a71364a6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e65073c6c0b4d66" /><Relationship Type="http://schemas.openxmlformats.org/officeDocument/2006/relationships/image" Target="/ppt/media/image3.jpeg" Id="R5c369fc521c344a1" /><Relationship Type="http://schemas.openxmlformats.org/officeDocument/2006/relationships/image" Target="/ppt/media/image2.png" Id="R7d5ae6b34d084159" /><Relationship Type="http://schemas.openxmlformats.org/officeDocument/2006/relationships/notesSlide" Target="/ppt/notesSlides/notesSlide4.xml" Id="R8963b385bca2431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5e4011793324fc4" /><Relationship Type="http://schemas.openxmlformats.org/officeDocument/2006/relationships/image" Target="/ppt/media/image3.png" Id="R8a1519d706c049f8" /><Relationship Type="http://schemas.openxmlformats.org/officeDocument/2006/relationships/notesSlide" Target="/ppt/notesSlides/notesSlide5.xml" Id="Ra6d9bab2636d483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3c6050bc0464840" /><Relationship Type="http://schemas.openxmlformats.org/officeDocument/2006/relationships/image" Target="/ppt/media/image4.png" Id="Rf087107921d04be4" /><Relationship Type="http://schemas.openxmlformats.org/officeDocument/2006/relationships/image" Target="/ppt/media/image5.png" Id="R839a53ddd133499b" /><Relationship Type="http://schemas.openxmlformats.org/officeDocument/2006/relationships/notesSlide" Target="/ppt/notesSlides/notesSlide6.xml" Id="R5c23c623b3b7499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032fcb9217f41a9" /><Relationship Type="http://schemas.openxmlformats.org/officeDocument/2006/relationships/chart" Target="/ppt/slides/charts/chart1.xml" Id="R3c75b79ec83c4118" /><Relationship Type="http://schemas.openxmlformats.org/officeDocument/2006/relationships/notesSlide" Target="/ppt/notesSlides/notesSlide7.xml" Id="Red82dd604f3b482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c12f9ea940a4fd5" /><Relationship Type="http://schemas.openxmlformats.org/officeDocument/2006/relationships/image" Target="/ppt/media/image6.png" Id="R200b7ad321cb4de8" /><Relationship Type="http://schemas.openxmlformats.org/officeDocument/2006/relationships/notesSlide" Target="/ppt/notesSlides/notesSlide8.xml" Id="Rb7103655699742f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4435e6da36d414c" /><Relationship Type="http://schemas.openxmlformats.org/officeDocument/2006/relationships/notesSlide" Target="/ppt/notesSlides/notesSlide9.xml" Id="R839986e80c2446b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727e6d826644a62" /><Relationship Type="http://schemas.openxmlformats.org/officeDocument/2006/relationships/image" Target="/ppt/media/image4.jpeg" Id="R8c267ef8fc4b429a" /><Relationship Type="http://schemas.openxmlformats.org/officeDocument/2006/relationships/notesSlide" Target="/ppt/notesSlides/notesSlide10.xml" Id="Rf21fdc5a21524a0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0b55be4d83b479e" /><Relationship Type="http://schemas.openxmlformats.org/officeDocument/2006/relationships/notesSlide" Target="/ppt/notesSlides/notesSlide11.xml" Id="R0c7e590bdaa5405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37fdd7ff44949bf" /><Relationship Type="http://schemas.openxmlformats.org/officeDocument/2006/relationships/image" Target="/ppt/media/image7.png" Id="Rfe13cd9c64504d77" /><Relationship Type="http://schemas.openxmlformats.org/officeDocument/2006/relationships/hyperlink" Target="https://tz-11-turklub-tropa-phi.vercel.app/" TargetMode="External" Id="R48e963aebaed4e95" /><Relationship Type="http://schemas.openxmlformats.org/officeDocument/2006/relationships/hyperlink" Target="https://github.com/Resolushh/tz-11-turklub-tropa" TargetMode="External" Id="R5af845d2dd1a4910" /><Relationship Type="http://schemas.openxmlformats.org/officeDocument/2006/relationships/image" Target="/ppt/media/image8.png" Id="R9aeb31fbf2384384" /><Relationship Type="http://schemas.openxmlformats.org/officeDocument/2006/relationships/notesSlide" Target="/ppt/notesSlides/notesSlide12.xml" Id="R0c7064a080be43d8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varyColors val="0"/>
        <c:ser>
          <c:idx val="0"/>
          <c:order val="0"/>
          <c:tx>
            <c:v>Сеансы</c:v>
          </c:tx>
          <c:spPr>
            <a:solidFill xmlns:a="http://schemas.openxmlformats.org/drawingml/2006/main">
              <a:srgbClr val="193B39"/>
            </a:solidFill>
          </c:spPr>
          <c:invertIfNegative val="0"/>
          <c:cat>
            <c:strRef>
              <c:f>'Chart Data'!$A$2:$A$4</c:f>
              <c:strCache>
                <c:ptCount val="3"/>
                <c:pt idx="0">
                  <c:v>Instagram</c:v>
                </c:pt>
                <c:pt idx="1">
                  <c:v>Direct</c:v>
                </c:pt>
                <c:pt idx="2">
                  <c:v>QR магазина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7</c:v>
                </c:pt>
                <c:pt idx="1">
                  <c:v>7</c:v>
                </c:pt>
                <c:pt idx="2">
                  <c:v>2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250">
                  <a:solidFill>
                    <a:srgbClr val="193B39"/>
                  </a:solidFill>
                  <a:latin typeface="Georgia"/>
                  <a:ea typeface="Georgia"/>
                  <a:cs typeface="Georgia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666666"/>
                </a:solidFill>
                <a:latin typeface="Georgia"/>
                <a:ea typeface="Georgia"/>
                <a:cs typeface="Georgia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5DFD5"/>
              </a:solidFill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666666"/>
                </a:solidFill>
                <a:latin typeface="Georgia"/>
                <a:ea typeface="Georgia"/>
                <a:cs typeface="Georgia"/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6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E65D93-910F-41AC-A36F-E127BDE1637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291b30e4f54198"/>
          <a:srcRect xmlns:a="http://schemas.openxmlformats.org/drawingml/2006/main" l="0" t="7797" r="0" b="779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2" name="Затемнение фотографии">
            <a:extLst xmlns:a="http://schemas.openxmlformats.org/drawingml/2006/main">
              <a:ext uri="{FF2B5EF4-FFF2-40B4-BE49-F238E27FC236}">
                <a16:creationId xmlns:a16="http://schemas.microsoft.com/office/drawing/2014/main" id="{C40D5D99-4240-47D8-9263-E52101D4A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F3A">
              <a:alpha val="58000"/>
            </a:srgbClr>
          </a:solidFill>
          <a:ln xmlns:a="http://schemas.openxmlformats.org/drawingml/2006/main" w="0">
            <a:noFill/>
          </a:ln>
        </p:spPr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B39795-F989-4D8E-B678-60E684FBA96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e387c4b0e644b2"/>
          <a:stretch xmlns:a="http://schemas.openxmlformats.org/drawingml/2006/main"/>
        </p:blipFill>
        <p:spPr>
          <a:xfrm xmlns:a="http://schemas.openxmlformats.org/drawingml/2006/main">
            <a:off x="685800" y="526428"/>
            <a:ext cx="3190875" cy="814043"/>
          </a:xfrm>
          <a:prstGeom xmlns:a="http://schemas.openxmlformats.org/drawingml/2006/main" prst="rect">
            <a:avLst/>
          </a:prstGeom>
        </p:spPr>
      </p:pic>
      <p:sp>
        <p:nvSpPr>
          <p:cNvPr id="4" name="Сайт и аналитика&#10;зимних походов">
            <a:extLst xmlns:a="http://schemas.openxmlformats.org/drawingml/2006/main">
              <a:ext uri="{FF2B5EF4-FFF2-40B4-BE49-F238E27FC236}">
                <a16:creationId xmlns:a16="http://schemas.microsoft.com/office/drawing/2014/main" id="{9289207E-7FE9-46F2-AB02-BDB95F43E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132397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66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defPPr>
            <a:lvl1pPr algn="l">
              <a:defRPr sz="66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1pPr>
            <a:lvl2pPr algn="l">
              <a:defRPr sz="66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2pPr>
            <a:lvl3pPr algn="l">
              <a:defRPr sz="66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3pPr>
            <a:lvl4pPr algn="l">
              <a:defRPr sz="66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4pPr>
            <a:lvl5pPr algn="l">
              <a:defRPr sz="66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5pPr>
            <a:lvl6pPr algn="l">
              <a:defRPr sz="66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6pPr>
            <a:lvl7pPr algn="l">
              <a:defRPr sz="66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7pPr>
            <a:lvl8pPr algn="l">
              <a:defRPr sz="66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8pPr>
            <a:lvl9pPr algn="l">
              <a:defRPr sz="66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algn="l">
              <a:defRPr sz="66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660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Сайт и аналитика</a:t>
            </a:r>
          </a:p>
          <a:p xmlns:a="http://schemas.openxmlformats.org/drawingml/2006/main">
            <a:pPr algn="l">
              <a:defRPr sz="66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660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зимних походов</a:t>
            </a:r>
          </a:p>
        </p:txBody>
      </p:sp>
      <p:sp>
        <p:nvSpPr>
          <p:cNvPr id="5" name="Курсовая работа по ТЗ-11/2026">
            <a:extLst xmlns:a="http://schemas.openxmlformats.org/drawingml/2006/main">
              <a:ext uri="{FF2B5EF4-FFF2-40B4-BE49-F238E27FC236}">
                <a16:creationId xmlns:a16="http://schemas.microsoft.com/office/drawing/2014/main" id="{4CCFF246-A8B1-466F-B9B2-0E39A888B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43500"/>
            <a:ext cx="12382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7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defPPr>
            <a:lvl1pPr algn="l">
              <a:defRPr sz="27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1pPr>
            <a:lvl2pPr algn="l">
              <a:defRPr sz="27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2pPr>
            <a:lvl3pPr algn="l">
              <a:defRPr sz="27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3pPr>
            <a:lvl4pPr algn="l">
              <a:defRPr sz="27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4pPr>
            <a:lvl5pPr algn="l">
              <a:defRPr sz="27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5pPr>
            <a:lvl6pPr algn="l">
              <a:defRPr sz="27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6pPr>
            <a:lvl7pPr algn="l">
              <a:defRPr sz="27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7pPr>
            <a:lvl8pPr algn="l">
              <a:defRPr sz="27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8pPr>
            <a:lvl9pPr algn="l">
              <a:defRPr sz="27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algn="l">
              <a:defRPr sz="27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70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Курсовая работа по ТЗ-11/2026</a:t>
            </a:r>
          </a:p>
        </p:txBody>
      </p:sp>
      <p:sp>
        <p:nvSpPr>
          <p:cNvPr id="6" name="Зотов Владислав Сергеевич&#10;РПО 9/25/">
            <a:extLst xmlns:a="http://schemas.openxmlformats.org/drawingml/2006/main">
              <a:ext uri="{FF2B5EF4-FFF2-40B4-BE49-F238E27FC236}">
                <a16:creationId xmlns:a16="http://schemas.microsoft.com/office/drawing/2014/main" id="{DD970A1C-E553-4F8A-A0D4-F2B4EAED0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715125"/>
            <a:ext cx="1285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25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defPPr>
            <a:lvl1pPr algn="l">
              <a:defRPr sz="225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1pPr>
            <a:lvl2pPr algn="l">
              <a:defRPr sz="225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2pPr>
            <a:lvl3pPr algn="l">
              <a:defRPr sz="225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3pPr>
            <a:lvl4pPr algn="l">
              <a:defRPr sz="225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4pPr>
            <a:lvl5pPr algn="l">
              <a:defRPr sz="225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5pPr>
            <a:lvl6pPr algn="l">
              <a:defRPr sz="225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6pPr>
            <a:lvl7pPr algn="l">
              <a:defRPr sz="225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7pPr>
            <a:lvl8pPr algn="l">
              <a:defRPr sz="225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8pPr>
            <a:lvl9pPr algn="l">
              <a:defRPr sz="225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algn="l">
              <a:defRPr sz="225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25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Зотов Владислав Сергеевич</a:t>
            </a:r>
          </a:p>
          <a:p xmlns:a="http://schemas.openxmlformats.org/drawingml/2006/main">
            <a:pPr algn="l">
              <a:defRPr sz="225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25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РПО 9/25/3 · ОП.03 «Информационные технологии»</a:t>
            </a:r>
          </a:p>
        </p:txBody>
      </p:sp>
      <p:sp>
        <p:nvSpPr>
          <p:cNvPr id="7" name="01">
            <a:extLst xmlns:a="http://schemas.openxmlformats.org/drawingml/2006/main">
              <a:ext uri="{FF2B5EF4-FFF2-40B4-BE49-F238E27FC236}">
                <a16:creationId xmlns:a16="http://schemas.microsoft.com/office/drawing/2014/main" id="{2719B0E5-11E0-4814-8A91-265B917F2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63625" y="7858125"/>
            <a:ext cx="714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2025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defPPr>
            <a:lvl1pPr algn="r">
              <a:defRPr sz="2025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1pPr>
            <a:lvl2pPr algn="r">
              <a:defRPr sz="2025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2pPr>
            <a:lvl3pPr algn="r">
              <a:defRPr sz="2025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3pPr>
            <a:lvl4pPr algn="r">
              <a:defRPr sz="2025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4pPr>
            <a:lvl5pPr algn="r">
              <a:defRPr sz="2025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5pPr>
            <a:lvl6pPr algn="r">
              <a:defRPr sz="2025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6pPr>
            <a:lvl7pPr algn="r">
              <a:defRPr sz="2025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7pPr>
            <a:lvl8pPr algn="r">
              <a:defRPr sz="2025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8pPr>
            <a:lvl9pPr algn="r">
              <a:defRPr sz="2025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algn="r">
              <a:defRPr sz="2025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025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89105015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6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02">
            <a:extLst xmlns:a="http://schemas.openxmlformats.org/drawingml/2006/main">
              <a:ext uri="{FF2B5EF4-FFF2-40B4-BE49-F238E27FC236}">
                <a16:creationId xmlns:a16="http://schemas.microsoft.com/office/drawing/2014/main" id="{9058993D-BF53-4146-90E9-4903111A8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63625" y="7858125"/>
            <a:ext cx="714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defPPr>
            <a:lvl1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1pPr>
            <a:lvl2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2pPr>
            <a:lvl3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3pPr>
            <a:lvl4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4pPr>
            <a:lvl5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5pPr>
            <a:lvl6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6pPr>
            <a:lvl7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7pPr>
            <a:lvl8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8pPr>
            <a:lvl9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pPr>
            <a:r>
              <a:rPr sz="2025">
                <a:solidFill>
                  <a:srgbClr val="58716A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2" name="Бронь терялась в переписке">
            <a:extLst xmlns:a="http://schemas.openxmlformats.org/drawingml/2006/main">
              <a:ext uri="{FF2B5EF4-FFF2-40B4-BE49-F238E27FC236}">
                <a16:creationId xmlns:a16="http://schemas.microsoft.com/office/drawing/2014/main" id="{4BE98BC1-4AB5-4F40-81B2-599A6F1D5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3620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defPPr>
            <a:lvl1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1pPr>
            <a:lvl2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2pPr>
            <a:lvl3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3pPr>
            <a:lvl4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4pPr>
            <a:lvl5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5pPr>
            <a:lvl6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6pPr>
            <a:lvl7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7pPr>
            <a:lvl8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8pPr>
            <a:lvl9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pPr>
            <a:r>
              <a:rPr sz="4650">
                <a:solidFill>
                  <a:srgbClr val="193B39"/>
                </a:solidFill>
                <a:latin typeface="Georgia"/>
                <a:ea typeface="Georgia"/>
                <a:cs typeface="Georgia"/>
              </a:rPr>
              <a:t>Бронь терялась в переписке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BFC80D-8521-42E5-A605-522A3C574D6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6ec2b458534757"/>
          <a:srcRect xmlns:a="http://schemas.openxmlformats.org/drawingml/2006/main" l="30556" t="0" r="30556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906000" y="0"/>
            <a:ext cx="5334000" cy="8572500"/>
          </a:xfrm>
          <a:prstGeom xmlns:a="http://schemas.openxmlformats.org/drawingml/2006/main" prst="rect">
            <a:avLst/>
          </a:prstGeom>
        </p:spPr>
      </p:pic>
      <p:sp>
        <p:nvSpPr>
          <p:cNvPr id="4" name="58">
            <a:extLst xmlns:a="http://schemas.openxmlformats.org/drawingml/2006/main">
              <a:ext uri="{FF2B5EF4-FFF2-40B4-BE49-F238E27FC236}">
                <a16:creationId xmlns:a16="http://schemas.microsoft.com/office/drawing/2014/main" id="{099867AB-F299-46B5-BC8B-A998E3B18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61912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0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defPPr>
            <a:lvl1pPr algn="l">
              <a:defRPr sz="120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1pPr>
            <a:lvl2pPr algn="l">
              <a:defRPr sz="120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2pPr>
            <a:lvl3pPr algn="l">
              <a:defRPr sz="120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3pPr>
            <a:lvl4pPr algn="l">
              <a:defRPr sz="120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4pPr>
            <a:lvl5pPr algn="l">
              <a:defRPr sz="120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5pPr>
            <a:lvl6pPr algn="l">
              <a:defRPr sz="120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6pPr>
            <a:lvl7pPr algn="l">
              <a:defRPr sz="120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7pPr>
            <a:lvl8pPr algn="l">
              <a:defRPr sz="120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8pPr>
            <a:lvl9pPr algn="l">
              <a:defRPr sz="120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algn="l">
              <a:defRPr sz="120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pPr>
            <a:r>
              <a:rPr sz="12000">
                <a:solidFill>
                  <a:srgbClr val="193B39"/>
                </a:solidFill>
                <a:latin typeface="Georgia"/>
                <a:ea typeface="Georgia"/>
                <a:cs typeface="Georgia"/>
              </a:rPr>
              <a:t>58</a:t>
            </a:r>
          </a:p>
        </p:txBody>
      </p:sp>
      <p:sp>
        <p:nvSpPr>
          <p:cNvPr id="5" name="человек не получили&#10;другую дату пох">
            <a:extLst xmlns:a="http://schemas.openxmlformats.org/drawingml/2006/main">
              <a:ext uri="{FF2B5EF4-FFF2-40B4-BE49-F238E27FC236}">
                <a16:creationId xmlns:a16="http://schemas.microsoft.com/office/drawing/2014/main" id="{4F41B2D4-8E4A-4D27-A208-0E9554267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05250"/>
            <a:ext cx="8286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4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defPPr>
            <a:lvl1pPr algn="l">
              <a:defRPr sz="34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1pPr>
            <a:lvl2pPr algn="l">
              <a:defRPr sz="34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2pPr>
            <a:lvl3pPr algn="l">
              <a:defRPr sz="34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3pPr>
            <a:lvl4pPr algn="l">
              <a:defRPr sz="34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4pPr>
            <a:lvl5pPr algn="l">
              <a:defRPr sz="34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5pPr>
            <a:lvl6pPr algn="l">
              <a:defRPr sz="34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6pPr>
            <a:lvl7pPr algn="l">
              <a:defRPr sz="34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7pPr>
            <a:lvl8pPr algn="l">
              <a:defRPr sz="34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8pPr>
            <a:lvl9pPr algn="l">
              <a:defRPr sz="34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algn="l">
              <a:defRPr sz="34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pPr>
            <a:r>
              <a:rPr sz="3450">
                <a:solidFill>
                  <a:srgbClr val="193B39"/>
                </a:solidFill>
                <a:latin typeface="Georgia"/>
                <a:ea typeface="Georgia"/>
                <a:cs typeface="Georgia"/>
              </a:rPr>
              <a:t>человек не получили</a:t>
            </a:r>
          </a:p>
          <a:p xmlns:a="http://schemas.openxmlformats.org/drawingml/2006/main">
            <a:pPr algn="l">
              <a:defRPr sz="34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pPr>
            <a:r>
              <a:rPr sz="3450">
                <a:solidFill>
                  <a:srgbClr val="193B39"/>
                </a:solidFill>
                <a:latin typeface="Georgia"/>
                <a:ea typeface="Georgia"/>
                <a:cs typeface="Georgia"/>
              </a:rPr>
              <a:t>другую дату похода</a:t>
            </a:r>
          </a:p>
        </p:txBody>
      </p:sp>
      <p:sp>
        <p:nvSpPr>
          <p:cNvPr id="6" name="В сентябре 2026 года они обратились">
            <a:extLst xmlns:a="http://schemas.openxmlformats.org/drawingml/2006/main">
              <a:ext uri="{FF2B5EF4-FFF2-40B4-BE49-F238E27FC236}">
                <a16:creationId xmlns:a16="http://schemas.microsoft.com/office/drawing/2014/main" id="{8AF78155-4BB3-4B83-99F6-F5DD9EA87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381625"/>
            <a:ext cx="8286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40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defPPr>
            <a:lvl1pPr algn="l">
              <a:defRPr sz="240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1pPr>
            <a:lvl2pPr algn="l">
              <a:defRPr sz="240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2pPr>
            <a:lvl3pPr algn="l">
              <a:defRPr sz="240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3pPr>
            <a:lvl4pPr algn="l">
              <a:defRPr sz="240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4pPr>
            <a:lvl5pPr algn="l">
              <a:defRPr sz="240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5pPr>
            <a:lvl6pPr algn="l">
              <a:defRPr sz="240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6pPr>
            <a:lvl7pPr algn="l">
              <a:defRPr sz="240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7pPr>
            <a:lvl8pPr algn="l">
              <a:defRPr sz="240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8pPr>
            <a:lvl9pPr algn="l">
              <a:defRPr sz="240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algn="l">
              <a:defRPr sz="240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pPr>
            <a:r>
              <a:rPr sz="2400">
                <a:solidFill>
                  <a:srgbClr val="58716A"/>
                </a:solidFill>
                <a:latin typeface="Georgia"/>
                <a:ea typeface="Georgia"/>
                <a:cs typeface="Georgia"/>
              </a:rPr>
              <a:t>В сентябре 2026 года они обратились</a:t>
            </a:r>
          </a:p>
          <a:p xmlns:a="http://schemas.openxmlformats.org/drawingml/2006/main">
            <a:pPr algn="l">
              <a:defRPr sz="240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pPr>
            <a:r>
              <a:rPr sz="2400">
                <a:solidFill>
                  <a:srgbClr val="58716A"/>
                </a:solidFill>
                <a:latin typeface="Georgia"/>
                <a:ea typeface="Georgia"/>
                <a:cs typeface="Georgia"/>
              </a:rPr>
              <a:t>в группы, где уже не было мест.</a:t>
            </a:r>
          </a:p>
        </p:txBody>
      </p:sp>
      <p:sp>
        <p:nvSpPr>
          <p:cNvPr id="7" name="6 зимних маршрутов к запуску сезона">
            <a:extLst xmlns:a="http://schemas.openxmlformats.org/drawingml/2006/main">
              <a:ext uri="{FF2B5EF4-FFF2-40B4-BE49-F238E27FC236}">
                <a16:creationId xmlns:a16="http://schemas.microsoft.com/office/drawing/2014/main" id="{39E1B2BB-AF21-45A1-B88B-DCB47F361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10375"/>
            <a:ext cx="8477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4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defPPr>
            <a:lvl1pPr algn="l">
              <a:defRPr sz="24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1pPr>
            <a:lvl2pPr algn="l">
              <a:defRPr sz="24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2pPr>
            <a:lvl3pPr algn="l">
              <a:defRPr sz="24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3pPr>
            <a:lvl4pPr algn="l">
              <a:defRPr sz="24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4pPr>
            <a:lvl5pPr algn="l">
              <a:defRPr sz="24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5pPr>
            <a:lvl6pPr algn="l">
              <a:defRPr sz="24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6pPr>
            <a:lvl7pPr algn="l">
              <a:defRPr sz="24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7pPr>
            <a:lvl8pPr algn="l">
              <a:defRPr sz="24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8pPr>
            <a:lvl9pPr algn="l">
              <a:defRPr sz="24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algn="l">
              <a:defRPr sz="24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pPr>
            <a:r>
              <a:rPr sz="2400">
                <a:solidFill>
                  <a:srgbClr val="193B39"/>
                </a:solidFill>
                <a:latin typeface="Georgia"/>
                <a:ea typeface="Georgia"/>
                <a:cs typeface="Georgia"/>
              </a:rPr>
              <a:t>6 зимних маршрутов к запуску сезона</a:t>
            </a:r>
          </a:p>
        </p:txBody>
      </p:sp>
      <p:sp>
        <p:nvSpPr>
          <p:cNvPr id="8" name="Данные вымышленного заказчика из ТЗ">
            <a:extLst xmlns:a="http://schemas.openxmlformats.org/drawingml/2006/main">
              <a:ext uri="{FF2B5EF4-FFF2-40B4-BE49-F238E27FC236}">
                <a16:creationId xmlns:a16="http://schemas.microsoft.com/office/drawing/2014/main" id="{2D8C5509-9175-46F7-9EDF-8C6CE9616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7762875"/>
            <a:ext cx="8477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defPPr>
            <a:lvl1pPr algn="l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1pPr>
            <a:lvl2pPr algn="l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2pPr>
            <a:lvl3pPr algn="l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3pPr>
            <a:lvl4pPr algn="l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4pPr>
            <a:lvl5pPr algn="l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5pPr>
            <a:lvl6pPr algn="l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6pPr>
            <a:lvl7pPr algn="l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7pPr>
            <a:lvl8pPr algn="l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8pPr>
            <a:lvl9pPr algn="l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algn="l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pPr>
            <a:r>
              <a:rPr sz="2025">
                <a:solidFill>
                  <a:srgbClr val="58716A"/>
                </a:solidFill>
                <a:latin typeface="Georgia"/>
                <a:ea typeface="Georgia"/>
                <a:cs typeface="Georgia"/>
              </a:rPr>
              <a:t>Данные вымышленного заказчика из ТЗ</a:t>
            </a:r>
          </a:p>
        </p:txBody>
      </p:sp>
      <p:sp>
        <p:nvSpPr>
          <p:cNvPr id="9" name="02">
            <a:extLst xmlns:a="http://schemas.openxmlformats.org/drawingml/2006/main">
              <a:ext uri="{FF2B5EF4-FFF2-40B4-BE49-F238E27FC236}">
                <a16:creationId xmlns:a16="http://schemas.microsoft.com/office/drawing/2014/main" id="{D36F3370-5FBD-46EA-8183-309F35948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63625" y="7858125"/>
            <a:ext cx="714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2025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defPPr>
            <a:lvl1pPr algn="r">
              <a:defRPr sz="2025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1pPr>
            <a:lvl2pPr algn="r">
              <a:defRPr sz="2025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2pPr>
            <a:lvl3pPr algn="r">
              <a:defRPr sz="2025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3pPr>
            <a:lvl4pPr algn="r">
              <a:defRPr sz="2025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4pPr>
            <a:lvl5pPr algn="r">
              <a:defRPr sz="2025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5pPr>
            <a:lvl6pPr algn="r">
              <a:defRPr sz="2025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6pPr>
            <a:lvl7pPr algn="r">
              <a:defRPr sz="2025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7pPr>
            <a:lvl8pPr algn="r">
              <a:defRPr sz="2025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8pPr>
            <a:lvl9pPr algn="r">
              <a:defRPr sz="2025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algn="r">
              <a:defRPr sz="2025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pPr>
            <a:r>
              <a:rPr sz="2025">
                <a:solidFill>
                  <a:srgbClr val="193B39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204690077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6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27C7A7-7850-45CC-85A6-6538358DA81D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9144000" y="4357688"/>
            <a:ext cx="1905000" cy="123825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8575">
            <a:solidFill>
              <a:srgbClr val="58716A"/>
            </a:solidFill>
            <a:tailEnd type="arrow" w="med" len="med"/>
          </a:ln>
        </p:spPr>
      </p:cxnSp>
      <p:cxnSp>
        <p:nvCxn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73E3CF-DEAD-45B6-8070-EF3E65DD334F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 flipV="1">
            <a:off x="9144000" y="3214688"/>
            <a:ext cx="1905000" cy="114300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8575">
            <a:solidFill>
              <a:srgbClr val="58716A"/>
            </a:solidFill>
            <a:tailEnd type="arrow" w="med" len="med"/>
          </a:ln>
        </p:spPr>
      </p:cxnSp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DB5776-7AA3-4A78-BC76-EE1F004FDF81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 flipV="1">
            <a:off x="3905250" y="4357688"/>
            <a:ext cx="1905000" cy="123825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8575">
            <a:solidFill>
              <a:srgbClr val="58716A"/>
            </a:solidFill>
            <a:tailEnd type="arrow" w="med" len="med"/>
          </a:ln>
        </p:spPr>
      </p:cxnSp>
      <p:cxnSp>
        <p:nvCxn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555597-2918-40C0-92B7-6B610750B3B9}"/>
              </a:ext>
            </a:extLst>
          </p:cNvPr>
          <p:cNvCxnSpPr>
            <a:stCxn xmlns:a="http://schemas.openxmlformats.org/drawingml/2006/main" id="3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905250" y="3214688"/>
            <a:ext cx="1905000" cy="114300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8575">
            <a:solidFill>
              <a:srgbClr val="58716A"/>
            </a:solidFill>
            <a:tailEnd type="arrow" w="med" len="med"/>
          </a:ln>
        </p:spPr>
      </p:cxnSp>
      <p:sp>
        <p:nvSpPr>
          <p:cNvPr id="18" name="03">
            <a:extLst xmlns:a="http://schemas.openxmlformats.org/drawingml/2006/main">
              <a:ext uri="{FF2B5EF4-FFF2-40B4-BE49-F238E27FC236}">
                <a16:creationId xmlns:a16="http://schemas.microsoft.com/office/drawing/2014/main" id="{561CB984-C791-4B2E-87C5-325340306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63625" y="7858125"/>
            <a:ext cx="714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defPPr>
            <a:lvl1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1pPr>
            <a:lvl2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2pPr>
            <a:lvl3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3pPr>
            <a:lvl4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4pPr>
            <a:lvl5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5pPr>
            <a:lvl6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6pPr>
            <a:lvl7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7pPr>
            <a:lvl8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8pPr>
            <a:lvl9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pPr>
            <a:r>
              <a:rPr sz="2025">
                <a:solidFill>
                  <a:srgbClr val="58716A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2" name="Как проходит заявка">
            <a:extLst xmlns:a="http://schemas.openxmlformats.org/drawingml/2006/main">
              <a:ext uri="{FF2B5EF4-FFF2-40B4-BE49-F238E27FC236}">
                <a16:creationId xmlns:a16="http://schemas.microsoft.com/office/drawing/2014/main" id="{545C0F9C-7EA9-4685-90FF-01D5B47CB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3620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defPPr>
            <a:lvl1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1pPr>
            <a:lvl2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2pPr>
            <a:lvl3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3pPr>
            <a:lvl4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4pPr>
            <a:lvl5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5pPr>
            <a:lvl6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6pPr>
            <a:lvl7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7pPr>
            <a:lvl8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8pPr>
            <a:lvl9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pPr>
            <a:r>
              <a:rPr sz="4650">
                <a:solidFill>
                  <a:srgbClr val="193B39"/>
                </a:solidFill>
                <a:latin typeface="Georgia"/>
                <a:ea typeface="Georgia"/>
                <a:cs typeface="Georgia"/>
              </a:rPr>
              <a:t>Как проходит заявка</a:t>
            </a:r>
          </a:p>
        </p:txBody>
      </p:sp>
      <p:sp>
        <p:nvSpPr>
          <p:cNvPr id="3" name="Соцсети и QR&#10;UTM-ссылки">
            <a:extLst xmlns:a="http://schemas.openxmlformats.org/drawingml/2006/main">
              <a:ext uri="{FF2B5EF4-FFF2-40B4-BE49-F238E27FC236}">
                <a16:creationId xmlns:a16="http://schemas.microsoft.com/office/drawing/2014/main" id="{629C3013-3245-4BA7-B3DE-EA785FDE4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24125"/>
            <a:ext cx="31432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B39"/>
          </a:solidFill>
          <a:ln xmlns:a="http://schemas.openxmlformats.org/drawingml/2006/main" w="0">
            <a:noFill/>
          </a:ln>
        </p:spPr>
      </p:sp>
      <p:sp>
        <p:nvSpPr>
          <p:cNvPr id="4" name="Соцсети и QR&#10;UTM-ссылки">
            <a:extLst xmlns:a="http://schemas.openxmlformats.org/drawingml/2006/main">
              <a:ext uri="{FF2B5EF4-FFF2-40B4-BE49-F238E27FC236}">
                <a16:creationId xmlns:a16="http://schemas.microsoft.com/office/drawing/2014/main" id="{28BE987E-FCE3-4C92-969A-FBBF8C12E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33675"/>
            <a:ext cx="2762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defPPr>
            <a:lvl1pPr algn="ctr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1pPr>
            <a:lvl2pPr algn="ctr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2pPr>
            <a:lvl3pPr algn="ctr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3pPr>
            <a:lvl4pPr algn="ctr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4pPr>
            <a:lvl5pPr algn="ctr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5pPr>
            <a:lvl6pPr algn="ctr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6pPr>
            <a:lvl7pPr algn="ctr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7pPr>
            <a:lvl8pPr algn="ctr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8pPr>
            <a:lvl9pPr algn="ctr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algn="ctr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40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Соцсети и QR</a:t>
            </a:r>
          </a:p>
          <a:p xmlns:a="http://schemas.openxmlformats.org/drawingml/2006/main">
            <a:pPr algn="ctr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40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UTM-ссылки</a:t>
            </a:r>
          </a:p>
        </p:txBody>
      </p:sp>
      <p:sp>
        <p:nvSpPr>
          <p:cNvPr id="5" name="Instagram&#10;ManyChat">
            <a:extLst xmlns:a="http://schemas.openxmlformats.org/drawingml/2006/main">
              <a:ext uri="{FF2B5EF4-FFF2-40B4-BE49-F238E27FC236}">
                <a16:creationId xmlns:a16="http://schemas.microsoft.com/office/drawing/2014/main" id="{EB936C67-3BF1-4B81-85FD-8953065E8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05375"/>
            <a:ext cx="31432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B39"/>
          </a:solidFill>
          <a:ln xmlns:a="http://schemas.openxmlformats.org/drawingml/2006/main" w="0">
            <a:noFill/>
          </a:ln>
        </p:spPr>
      </p:sp>
      <p:sp>
        <p:nvSpPr>
          <p:cNvPr id="6" name="Instagram&#10;ManyChat">
            <a:extLst xmlns:a="http://schemas.openxmlformats.org/drawingml/2006/main">
              <a:ext uri="{FF2B5EF4-FFF2-40B4-BE49-F238E27FC236}">
                <a16:creationId xmlns:a16="http://schemas.microsoft.com/office/drawing/2014/main" id="{E9039912-1424-436C-AEC2-51A63BB9E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114925"/>
            <a:ext cx="2762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defPPr>
            <a:lvl1pPr algn="ctr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1pPr>
            <a:lvl2pPr algn="ctr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2pPr>
            <a:lvl3pPr algn="ctr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3pPr>
            <a:lvl4pPr algn="ctr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4pPr>
            <a:lvl5pPr algn="ctr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5pPr>
            <a:lvl6pPr algn="ctr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6pPr>
            <a:lvl7pPr algn="ctr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7pPr>
            <a:lvl8pPr algn="ctr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8pPr>
            <a:lvl9pPr algn="ctr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algn="ctr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40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Instagram</a:t>
            </a:r>
          </a:p>
          <a:p xmlns:a="http://schemas.openxmlformats.org/drawingml/2006/main">
            <a:pPr algn="ctr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40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ManyChat</a:t>
            </a:r>
          </a:p>
        </p:txBody>
      </p:sp>
      <p:sp>
        <p:nvSpPr>
          <p:cNvPr id="7" name="Сайт «Тропа»&#10;Vercel">
            <a:extLst xmlns:a="http://schemas.openxmlformats.org/drawingml/2006/main">
              <a:ext uri="{FF2B5EF4-FFF2-40B4-BE49-F238E27FC236}">
                <a16:creationId xmlns:a16="http://schemas.microsoft.com/office/drawing/2014/main" id="{EF9F6255-E0D9-4902-A453-AA660172A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667125"/>
            <a:ext cx="33337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B64F"/>
          </a:solidFill>
          <a:ln xmlns:a="http://schemas.openxmlformats.org/drawingml/2006/main" w="0">
            <a:noFill/>
          </a:ln>
        </p:spPr>
      </p:sp>
      <p:sp>
        <p:nvSpPr>
          <p:cNvPr id="8" name="Сайт «Тропа»&#10;Vercel">
            <a:extLst xmlns:a="http://schemas.openxmlformats.org/drawingml/2006/main">
              <a:ext uri="{FF2B5EF4-FFF2-40B4-BE49-F238E27FC236}">
                <a16:creationId xmlns:a16="http://schemas.microsoft.com/office/drawing/2014/main" id="{81D99679-EE0F-4CA7-A01D-0187BD8AE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876675"/>
            <a:ext cx="2952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24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defPPr>
            <a:lvl1pPr algn="ctr">
              <a:defRPr sz="24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1pPr>
            <a:lvl2pPr algn="ctr">
              <a:defRPr sz="24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2pPr>
            <a:lvl3pPr algn="ctr">
              <a:defRPr sz="24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3pPr>
            <a:lvl4pPr algn="ctr">
              <a:defRPr sz="24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4pPr>
            <a:lvl5pPr algn="ctr">
              <a:defRPr sz="24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5pPr>
            <a:lvl6pPr algn="ctr">
              <a:defRPr sz="24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6pPr>
            <a:lvl7pPr algn="ctr">
              <a:defRPr sz="24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7pPr>
            <a:lvl8pPr algn="ctr">
              <a:defRPr sz="24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8pPr>
            <a:lvl9pPr algn="ctr">
              <a:defRPr sz="24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algn="ctr">
              <a:defRPr sz="24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pPr>
            <a:r>
              <a:rPr sz="2400">
                <a:solidFill>
                  <a:srgbClr val="193B39"/>
                </a:solidFill>
                <a:latin typeface="Georgia"/>
                <a:ea typeface="Georgia"/>
                <a:cs typeface="Georgia"/>
              </a:rPr>
              <a:t>Сайт «Тропа»</a:t>
            </a:r>
          </a:p>
          <a:p xmlns:a="http://schemas.openxmlformats.org/drawingml/2006/main">
            <a:pPr algn="ctr">
              <a:defRPr sz="24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pPr>
            <a:r>
              <a:rPr sz="2400">
                <a:solidFill>
                  <a:srgbClr val="193B39"/>
                </a:solidFill>
                <a:latin typeface="Georgia"/>
                <a:ea typeface="Georgia"/>
                <a:cs typeface="Georgia"/>
              </a:rPr>
              <a:t>Vercel</a:t>
            </a:r>
          </a:p>
        </p:txBody>
      </p:sp>
      <p:sp>
        <p:nvSpPr>
          <p:cNvPr id="9" name="GA4&#10;События и отчёты">
            <a:extLst xmlns:a="http://schemas.openxmlformats.org/drawingml/2006/main">
              <a:ext uri="{FF2B5EF4-FFF2-40B4-BE49-F238E27FC236}">
                <a16:creationId xmlns:a16="http://schemas.microsoft.com/office/drawing/2014/main" id="{7E3B298C-2BE8-494F-8740-F74C8905B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524125"/>
            <a:ext cx="342900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B39"/>
          </a:solidFill>
          <a:ln xmlns:a="http://schemas.openxmlformats.org/drawingml/2006/main" w="0">
            <a:noFill/>
          </a:ln>
        </p:spPr>
      </p:sp>
      <p:sp>
        <p:nvSpPr>
          <p:cNvPr id="10" name="GA4&#10;События и отчёты">
            <a:extLst xmlns:a="http://schemas.openxmlformats.org/drawingml/2006/main">
              <a:ext uri="{FF2B5EF4-FFF2-40B4-BE49-F238E27FC236}">
                <a16:creationId xmlns:a16="http://schemas.microsoft.com/office/drawing/2014/main" id="{49D10CED-33D3-4D22-A619-AF6B8A7AC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2733675"/>
            <a:ext cx="304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defPPr>
            <a:lvl1pPr algn="ctr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1pPr>
            <a:lvl2pPr algn="ctr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2pPr>
            <a:lvl3pPr algn="ctr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3pPr>
            <a:lvl4pPr algn="ctr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4pPr>
            <a:lvl5pPr algn="ctr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5pPr>
            <a:lvl6pPr algn="ctr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6pPr>
            <a:lvl7pPr algn="ctr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7pPr>
            <a:lvl8pPr algn="ctr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8pPr>
            <a:lvl9pPr algn="ctr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algn="ctr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40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GA4</a:t>
            </a:r>
          </a:p>
          <a:p xmlns:a="http://schemas.openxmlformats.org/drawingml/2006/main">
            <a:pPr algn="ctr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40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События и отчёты</a:t>
            </a:r>
          </a:p>
        </p:txBody>
      </p:sp>
      <p:sp>
        <p:nvSpPr>
          <p:cNvPr id="11" name="Apps Script&#10;Google Таблица">
            <a:extLst xmlns:a="http://schemas.openxmlformats.org/drawingml/2006/main">
              <a:ext uri="{FF2B5EF4-FFF2-40B4-BE49-F238E27FC236}">
                <a16:creationId xmlns:a16="http://schemas.microsoft.com/office/drawing/2014/main" id="{4D77951B-38A4-4474-8E55-92A625872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905375"/>
            <a:ext cx="342900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B39"/>
          </a:solidFill>
          <a:ln xmlns:a="http://schemas.openxmlformats.org/drawingml/2006/main" w="0">
            <a:noFill/>
          </a:ln>
        </p:spPr>
      </p:sp>
      <p:sp>
        <p:nvSpPr>
          <p:cNvPr id="12" name="Apps Script&#10;Google Таблица">
            <a:extLst xmlns:a="http://schemas.openxmlformats.org/drawingml/2006/main">
              <a:ext uri="{FF2B5EF4-FFF2-40B4-BE49-F238E27FC236}">
                <a16:creationId xmlns:a16="http://schemas.microsoft.com/office/drawing/2014/main" id="{BD24F3BA-286F-4363-A8EE-264888919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5114925"/>
            <a:ext cx="304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defPPr>
            <a:lvl1pPr algn="ctr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1pPr>
            <a:lvl2pPr algn="ctr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2pPr>
            <a:lvl3pPr algn="ctr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3pPr>
            <a:lvl4pPr algn="ctr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4pPr>
            <a:lvl5pPr algn="ctr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5pPr>
            <a:lvl6pPr algn="ctr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6pPr>
            <a:lvl7pPr algn="ctr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7pPr>
            <a:lvl8pPr algn="ctr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8pPr>
            <a:lvl9pPr algn="ctr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algn="ctr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40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Apps Script</a:t>
            </a:r>
          </a:p>
          <a:p xmlns:a="http://schemas.openxmlformats.org/drawingml/2006/main">
            <a:pPr algn="ctr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40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Google Таблица</a:t>
            </a:r>
          </a:p>
        </p:txBody>
      </p:sp>
      <p:sp>
        <p:nvSpPr>
          <p:cNvPr id="17" name="Источник сохраняется в UTM, заявка ">
            <a:extLst xmlns:a="http://schemas.openxmlformats.org/drawingml/2006/main">
              <a:ext uri="{FF2B5EF4-FFF2-40B4-BE49-F238E27FC236}">
                <a16:creationId xmlns:a16="http://schemas.microsoft.com/office/drawing/2014/main" id="{5C954E5F-DBCB-4188-805E-9F2D0B617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191375"/>
            <a:ext cx="1371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5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defPPr>
            <a:lvl1pPr algn="l">
              <a:defRPr sz="25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1pPr>
            <a:lvl2pPr algn="l">
              <a:defRPr sz="25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2pPr>
            <a:lvl3pPr algn="l">
              <a:defRPr sz="25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3pPr>
            <a:lvl4pPr algn="l">
              <a:defRPr sz="25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4pPr>
            <a:lvl5pPr algn="l">
              <a:defRPr sz="25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5pPr>
            <a:lvl6pPr algn="l">
              <a:defRPr sz="25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6pPr>
            <a:lvl7pPr algn="l">
              <a:defRPr sz="25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7pPr>
            <a:lvl8pPr algn="l">
              <a:defRPr sz="25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8pPr>
            <a:lvl9pPr algn="l">
              <a:defRPr sz="25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algn="l">
              <a:defRPr sz="25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pPr>
            <a:r>
              <a:rPr sz="2550">
                <a:solidFill>
                  <a:srgbClr val="193B39"/>
                </a:solidFill>
                <a:latin typeface="Georgia"/>
                <a:ea typeface="Georgia"/>
                <a:cs typeface="Georgia"/>
              </a:rPr>
              <a:t>Источник сохраняется в UTM, заявка получает уникальный номер</a:t>
            </a:r>
          </a:p>
        </p:txBody>
      </p:sp>
    </p:spTree>
    <p:extLst>
      <p:ext uri="{BB962C8B-B14F-4D97-AF65-F5344CB8AC3E}">
        <p14:creationId xmlns:p14="http://schemas.microsoft.com/office/powerpoint/2010/main" val="202926577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6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04">
            <a:extLst xmlns:a="http://schemas.openxmlformats.org/drawingml/2006/main">
              <a:ext uri="{FF2B5EF4-FFF2-40B4-BE49-F238E27FC236}">
                <a16:creationId xmlns:a16="http://schemas.microsoft.com/office/drawing/2014/main" id="{75076C7C-39E9-455A-B49E-C1C3F41BF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63625" y="7858125"/>
            <a:ext cx="714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defPPr>
            <a:lvl1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1pPr>
            <a:lvl2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2pPr>
            <a:lvl3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3pPr>
            <a:lvl4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4pPr>
            <a:lvl5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5pPr>
            <a:lvl6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6pPr>
            <a:lvl7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7pPr>
            <a:lvl8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8pPr>
            <a:lvl9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pPr>
            <a:r>
              <a:rPr sz="2025">
                <a:solidFill>
                  <a:srgbClr val="58716A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2" name="Сайт помогает выбрать поход">
            <a:extLst xmlns:a="http://schemas.openxmlformats.org/drawingml/2006/main">
              <a:ext uri="{FF2B5EF4-FFF2-40B4-BE49-F238E27FC236}">
                <a16:creationId xmlns:a16="http://schemas.microsoft.com/office/drawing/2014/main" id="{6AD5AFD6-2E91-4D67-8884-E4A3C9DE1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3620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defPPr>
            <a:lvl1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1pPr>
            <a:lvl2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2pPr>
            <a:lvl3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3pPr>
            <a:lvl4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4pPr>
            <a:lvl5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5pPr>
            <a:lvl6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6pPr>
            <a:lvl7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7pPr>
            <a:lvl8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8pPr>
            <a:lvl9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pPr>
            <a:r>
              <a:rPr sz="4650">
                <a:solidFill>
                  <a:srgbClr val="193B39"/>
                </a:solidFill>
                <a:latin typeface="Georgia"/>
                <a:ea typeface="Georgia"/>
                <a:cs typeface="Georgia"/>
              </a:rPr>
              <a:t>Сайт помогает выбрать поход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3C94E5-C707-4A43-A998-91A77705E5E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369fc521c344a1"/>
          <a:stretch xmlns:a="http://schemas.openxmlformats.org/drawingml/2006/main"/>
        </p:blipFill>
        <p:spPr>
          <a:xfrm xmlns:a="http://schemas.openxmlformats.org/drawingml/2006/main">
            <a:off x="762000" y="1963232"/>
            <a:ext cx="9858375" cy="4931786"/>
          </a:xfrm>
          <a:prstGeom xmlns:a="http://schemas.openxmlformats.org/drawingml/2006/main" prst="rect">
            <a:avLst/>
          </a:prstGeom>
        </p:spPr>
      </p:pic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07961A-9ABC-492D-9365-45C4F65B4AA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5ae6b34d084159"/>
          <a:stretch xmlns:a="http://schemas.openxmlformats.org/drawingml/2006/main"/>
        </p:blipFill>
        <p:spPr>
          <a:xfrm xmlns:a="http://schemas.openxmlformats.org/drawingml/2006/main">
            <a:off x="11426598" y="2000250"/>
            <a:ext cx="2388054" cy="3714750"/>
          </a:xfrm>
          <a:prstGeom xmlns:a="http://schemas.openxmlformats.org/drawingml/2006/main" prst="rect">
            <a:avLst/>
          </a:prstGeom>
        </p:spPr>
      </p:pic>
      <p:sp>
        <p:nvSpPr>
          <p:cNvPr id="5" name="8 страниц + 404&#10;6 маршрутов&#10;13 дат ">
            <a:extLst xmlns:a="http://schemas.openxmlformats.org/drawingml/2006/main">
              <a:ext uri="{FF2B5EF4-FFF2-40B4-BE49-F238E27FC236}">
                <a16:creationId xmlns:a16="http://schemas.microsoft.com/office/drawing/2014/main" id="{6DC02DF1-F2FD-4711-B065-99DE31B5F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5905500"/>
            <a:ext cx="32861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4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defPPr>
            <a:lvl1pPr algn="l">
              <a:defRPr sz="24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1pPr>
            <a:lvl2pPr algn="l">
              <a:defRPr sz="24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2pPr>
            <a:lvl3pPr algn="l">
              <a:defRPr sz="24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3pPr>
            <a:lvl4pPr algn="l">
              <a:defRPr sz="24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4pPr>
            <a:lvl5pPr algn="l">
              <a:defRPr sz="24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5pPr>
            <a:lvl6pPr algn="l">
              <a:defRPr sz="24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6pPr>
            <a:lvl7pPr algn="l">
              <a:defRPr sz="24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7pPr>
            <a:lvl8pPr algn="l">
              <a:defRPr sz="24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8pPr>
            <a:lvl9pPr algn="l">
              <a:defRPr sz="24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algn="l">
              <a:defRPr sz="24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pPr>
            <a:r>
              <a:rPr sz="2400">
                <a:solidFill>
                  <a:srgbClr val="193B39"/>
                </a:solidFill>
                <a:latin typeface="Georgia"/>
                <a:ea typeface="Georgia"/>
                <a:cs typeface="Georgia"/>
              </a:rPr>
              <a:t>8 страниц + 404</a:t>
            </a:r>
          </a:p>
          <a:p xmlns:a="http://schemas.openxmlformats.org/drawingml/2006/main">
            <a:pPr algn="l">
              <a:defRPr sz="24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pPr>
            <a:r>
              <a:rPr sz="2400">
                <a:solidFill>
                  <a:srgbClr val="193B39"/>
                </a:solidFill>
                <a:latin typeface="Georgia"/>
                <a:ea typeface="Georgia"/>
                <a:cs typeface="Georgia"/>
              </a:rPr>
              <a:t>6 маршрутов</a:t>
            </a:r>
          </a:p>
          <a:p xmlns:a="http://schemas.openxmlformats.org/drawingml/2006/main">
            <a:pPr algn="l">
              <a:defRPr sz="24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pPr>
            <a:r>
              <a:rPr sz="2400">
                <a:solidFill>
                  <a:srgbClr val="193B39"/>
                </a:solidFill>
                <a:latin typeface="Georgia"/>
                <a:ea typeface="Georgia"/>
                <a:cs typeface="Georgia"/>
              </a:rPr>
              <a:t>13 дат выездов</a:t>
            </a:r>
          </a:p>
        </p:txBody>
      </p:sp>
      <p:sp>
        <p:nvSpPr>
          <p:cNvPr id="6" name="Lighthouse Mobile: 72 / 100 / 100 /">
            <a:extLst xmlns:a="http://schemas.openxmlformats.org/drawingml/2006/main">
              <a:ext uri="{FF2B5EF4-FFF2-40B4-BE49-F238E27FC236}">
                <a16:creationId xmlns:a16="http://schemas.microsoft.com/office/drawing/2014/main" id="{33A36FF1-A69E-48F3-80B5-B730002A7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86625"/>
            <a:ext cx="1000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4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defPPr>
            <a:lvl1pPr algn="l">
              <a:defRPr sz="24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1pPr>
            <a:lvl2pPr algn="l">
              <a:defRPr sz="24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2pPr>
            <a:lvl3pPr algn="l">
              <a:defRPr sz="24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3pPr>
            <a:lvl4pPr algn="l">
              <a:defRPr sz="24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4pPr>
            <a:lvl5pPr algn="l">
              <a:defRPr sz="24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5pPr>
            <a:lvl6pPr algn="l">
              <a:defRPr sz="24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6pPr>
            <a:lvl7pPr algn="l">
              <a:defRPr sz="24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7pPr>
            <a:lvl8pPr algn="l">
              <a:defRPr sz="24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8pPr>
            <a:lvl9pPr algn="l">
              <a:defRPr sz="24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algn="l">
              <a:defRPr sz="24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pPr>
            <a:r>
              <a:rPr sz="2400">
                <a:solidFill>
                  <a:srgbClr val="193B39"/>
                </a:solidFill>
                <a:latin typeface="Georgia"/>
                <a:ea typeface="Georgia"/>
                <a:cs typeface="Georgia"/>
              </a:rPr>
              <a:t>Lighthouse Mobile: 72 / 100 / 100 / 100</a:t>
            </a:r>
          </a:p>
        </p:txBody>
      </p:sp>
      <p:sp>
        <p:nvSpPr>
          <p:cNvPr id="7" name="Замер 29.10.2026">
            <a:extLst xmlns:a="http://schemas.openxmlformats.org/drawingml/2006/main">
              <a:ext uri="{FF2B5EF4-FFF2-40B4-BE49-F238E27FC236}">
                <a16:creationId xmlns:a16="http://schemas.microsoft.com/office/drawing/2014/main" id="{4BDD46C5-A71B-4681-9F06-ADD8D9E36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39075"/>
            <a:ext cx="1000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defPPr>
            <a:lvl1pPr algn="l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1pPr>
            <a:lvl2pPr algn="l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2pPr>
            <a:lvl3pPr algn="l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3pPr>
            <a:lvl4pPr algn="l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4pPr>
            <a:lvl5pPr algn="l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5pPr>
            <a:lvl6pPr algn="l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6pPr>
            <a:lvl7pPr algn="l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7pPr>
            <a:lvl8pPr algn="l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8pPr>
            <a:lvl9pPr algn="l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algn="l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pPr>
            <a:r>
              <a:rPr sz="2025">
                <a:solidFill>
                  <a:srgbClr val="58716A"/>
                </a:solidFill>
                <a:latin typeface="Georgia"/>
                <a:ea typeface="Georgia"/>
                <a:cs typeface="Georgia"/>
              </a:rPr>
              <a:t>Замер 29.10.2026</a:t>
            </a:r>
          </a:p>
        </p:txBody>
      </p:sp>
    </p:spTree>
    <p:extLst>
      <p:ext uri="{BB962C8B-B14F-4D97-AF65-F5344CB8AC3E}">
        <p14:creationId xmlns:p14="http://schemas.microsoft.com/office/powerpoint/2010/main" val="9076071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6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05">
            <a:extLst xmlns:a="http://schemas.openxmlformats.org/drawingml/2006/main">
              <a:ext uri="{FF2B5EF4-FFF2-40B4-BE49-F238E27FC236}">
                <a16:creationId xmlns:a16="http://schemas.microsoft.com/office/drawing/2014/main" id="{97FD8DA5-4DF5-40EE-9F96-64E32D525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63625" y="7858125"/>
            <a:ext cx="714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defPPr>
            <a:lvl1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1pPr>
            <a:lvl2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2pPr>
            <a:lvl3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3pPr>
            <a:lvl4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4pPr>
            <a:lvl5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5pPr>
            <a:lvl6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6pPr>
            <a:lvl7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7pPr>
            <a:lvl8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8pPr>
            <a:lvl9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pPr>
            <a:r>
              <a:rPr sz="2025">
                <a:solidFill>
                  <a:srgbClr val="58716A"/>
                </a:solidFill>
                <a:latin typeface="Georgia"/>
                <a:ea typeface="Georgia"/>
                <a:cs typeface="Georgia"/>
              </a:rPr>
              <a:t>05</a:t>
            </a:r>
          </a:p>
        </p:txBody>
      </p:sp>
      <p:sp>
        <p:nvSpPr>
          <p:cNvPr id="2" name="Источник дошёл до заявки">
            <a:extLst xmlns:a="http://schemas.openxmlformats.org/drawingml/2006/main">
              <a:ext uri="{FF2B5EF4-FFF2-40B4-BE49-F238E27FC236}">
                <a16:creationId xmlns:a16="http://schemas.microsoft.com/office/drawing/2014/main" id="{98646B11-3951-4DFE-AE17-9171C1826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3620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defPPr>
            <a:lvl1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1pPr>
            <a:lvl2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2pPr>
            <a:lvl3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3pPr>
            <a:lvl4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4pPr>
            <a:lvl5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5pPr>
            <a:lvl6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6pPr>
            <a:lvl7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7pPr>
            <a:lvl8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8pPr>
            <a:lvl9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pPr>
            <a:r>
              <a:rPr sz="4650">
                <a:solidFill>
                  <a:srgbClr val="193B39"/>
                </a:solidFill>
                <a:latin typeface="Georgia"/>
                <a:ea typeface="Georgia"/>
                <a:cs typeface="Georgia"/>
              </a:rPr>
              <a:t>Источник дошёл до заявки</a:t>
            </a:r>
          </a:p>
        </p:txBody>
      </p:sp>
      <p:sp>
        <p:nvSpPr>
          <p:cNvPr id="3" name="Instagram / social">
            <a:extLst xmlns:a="http://schemas.openxmlformats.org/drawingml/2006/main">
              <a:ext uri="{FF2B5EF4-FFF2-40B4-BE49-F238E27FC236}">
                <a16:creationId xmlns:a16="http://schemas.microsoft.com/office/drawing/2014/main" id="{DDA0FEC9-9EC7-4B9C-A0D1-DA89D51CA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47875"/>
            <a:ext cx="714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4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defPPr>
            <a:lvl1pPr algn="l">
              <a:defRPr sz="34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1pPr>
            <a:lvl2pPr algn="l">
              <a:defRPr sz="34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2pPr>
            <a:lvl3pPr algn="l">
              <a:defRPr sz="34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3pPr>
            <a:lvl4pPr algn="l">
              <a:defRPr sz="34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4pPr>
            <a:lvl5pPr algn="l">
              <a:defRPr sz="34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5pPr>
            <a:lvl6pPr algn="l">
              <a:defRPr sz="34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6pPr>
            <a:lvl7pPr algn="l">
              <a:defRPr sz="34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7pPr>
            <a:lvl8pPr algn="l">
              <a:defRPr sz="34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8pPr>
            <a:lvl9pPr algn="l">
              <a:defRPr sz="34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algn="l">
              <a:defRPr sz="34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pPr>
            <a:r>
              <a:rPr sz="3450">
                <a:solidFill>
                  <a:srgbClr val="193B39"/>
                </a:solidFill>
                <a:latin typeface="Georgia"/>
                <a:ea typeface="Georgia"/>
                <a:cs typeface="Georgia"/>
              </a:rPr>
              <a:t>Instagram / social</a:t>
            </a:r>
          </a:p>
        </p:txBody>
      </p:sp>
      <p:sp>
        <p:nvSpPr>
          <p:cNvPr id="4" name="winter_trips_2026&#10;reel_tent_01">
            <a:extLst xmlns:a="http://schemas.openxmlformats.org/drawingml/2006/main">
              <a:ext uri="{FF2B5EF4-FFF2-40B4-BE49-F238E27FC236}">
                <a16:creationId xmlns:a16="http://schemas.microsoft.com/office/drawing/2014/main" id="{571837F0-61D8-401D-9EE3-98911677D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00375"/>
            <a:ext cx="7334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70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defPPr>
            <a:lvl1pPr algn="l">
              <a:defRPr sz="270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1pPr>
            <a:lvl2pPr algn="l">
              <a:defRPr sz="270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2pPr>
            <a:lvl3pPr algn="l">
              <a:defRPr sz="270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3pPr>
            <a:lvl4pPr algn="l">
              <a:defRPr sz="270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4pPr>
            <a:lvl5pPr algn="l">
              <a:defRPr sz="270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5pPr>
            <a:lvl6pPr algn="l">
              <a:defRPr sz="270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6pPr>
            <a:lvl7pPr algn="l">
              <a:defRPr sz="270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7pPr>
            <a:lvl8pPr algn="l">
              <a:defRPr sz="270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8pPr>
            <a:lvl9pPr algn="l">
              <a:defRPr sz="270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algn="l">
              <a:defRPr sz="270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pPr>
            <a:r>
              <a:rPr sz="2700">
                <a:solidFill>
                  <a:srgbClr val="58716A"/>
                </a:solidFill>
                <a:latin typeface="Georgia"/>
                <a:ea typeface="Georgia"/>
                <a:cs typeface="Georgia"/>
              </a:rPr>
              <a:t>winter_trips_2026</a:t>
            </a:r>
          </a:p>
          <a:p xmlns:a="http://schemas.openxmlformats.org/drawingml/2006/main">
            <a:pPr algn="l">
              <a:defRPr sz="270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pPr>
            <a:r>
              <a:rPr sz="2700">
                <a:solidFill>
                  <a:srgbClr val="58716A"/>
                </a:solidFill>
                <a:latin typeface="Georgia"/>
                <a:ea typeface="Georgia"/>
                <a:cs typeface="Georgia"/>
              </a:rPr>
              <a:t>reel_tent_01</a:t>
            </a:r>
          </a:p>
        </p:txBody>
      </p:sp>
      <p:sp>
        <p:nvSpPr>
          <p:cNvPr id="5" name="REQ-478ab710…">
            <a:extLst xmlns:a="http://schemas.openxmlformats.org/drawingml/2006/main">
              <a:ext uri="{FF2B5EF4-FFF2-40B4-BE49-F238E27FC236}">
                <a16:creationId xmlns:a16="http://schemas.microsoft.com/office/drawing/2014/main" id="{79D3A3E9-728A-4471-8DED-1F6EEA416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57750"/>
            <a:ext cx="781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375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defPPr>
            <a:lvl1pPr algn="l">
              <a:defRPr sz="3375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1pPr>
            <a:lvl2pPr algn="l">
              <a:defRPr sz="3375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2pPr>
            <a:lvl3pPr algn="l">
              <a:defRPr sz="3375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3pPr>
            <a:lvl4pPr algn="l">
              <a:defRPr sz="3375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4pPr>
            <a:lvl5pPr algn="l">
              <a:defRPr sz="3375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5pPr>
            <a:lvl6pPr algn="l">
              <a:defRPr sz="3375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6pPr>
            <a:lvl7pPr algn="l">
              <a:defRPr sz="3375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7pPr>
            <a:lvl8pPr algn="l">
              <a:defRPr sz="3375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8pPr>
            <a:lvl9pPr algn="l">
              <a:defRPr sz="3375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algn="l">
              <a:defRPr sz="3375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pPr>
            <a:r>
              <a:rPr sz="3375">
                <a:solidFill>
                  <a:srgbClr val="193B39"/>
                </a:solidFill>
                <a:latin typeface="Georgia"/>
                <a:ea typeface="Georgia"/>
                <a:cs typeface="Georgia"/>
              </a:rPr>
              <a:t>REQ-478ab710…</a:t>
            </a:r>
          </a:p>
        </p:txBody>
      </p:sp>
      <p:sp>
        <p:nvSpPr>
          <p:cNvPr id="6" name="30 октября, 01:11:32&#10;Запись в leads">
            <a:extLst xmlns:a="http://schemas.openxmlformats.org/drawingml/2006/main">
              <a:ext uri="{FF2B5EF4-FFF2-40B4-BE49-F238E27FC236}">
                <a16:creationId xmlns:a16="http://schemas.microsoft.com/office/drawing/2014/main" id="{1C484B39-E1F4-4384-BF9A-30F867D40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57875"/>
            <a:ext cx="7905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4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defPPr>
            <a:lvl1pPr algn="l">
              <a:defRPr sz="24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1pPr>
            <a:lvl2pPr algn="l">
              <a:defRPr sz="24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2pPr>
            <a:lvl3pPr algn="l">
              <a:defRPr sz="24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3pPr>
            <a:lvl4pPr algn="l">
              <a:defRPr sz="24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4pPr>
            <a:lvl5pPr algn="l">
              <a:defRPr sz="24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5pPr>
            <a:lvl6pPr algn="l">
              <a:defRPr sz="24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6pPr>
            <a:lvl7pPr algn="l">
              <a:defRPr sz="24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7pPr>
            <a:lvl8pPr algn="l">
              <a:defRPr sz="24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8pPr>
            <a:lvl9pPr algn="l">
              <a:defRPr sz="24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algn="l">
              <a:defRPr sz="24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pPr>
            <a:r>
              <a:rPr sz="2400">
                <a:solidFill>
                  <a:srgbClr val="193B39"/>
                </a:solidFill>
                <a:latin typeface="Georgia"/>
                <a:ea typeface="Georgia"/>
                <a:cs typeface="Georgia"/>
              </a:rPr>
              <a:t>30 октября, 01:11:32</a:t>
            </a:r>
          </a:p>
          <a:p xmlns:a="http://schemas.openxmlformats.org/drawingml/2006/main">
            <a:pPr algn="l">
              <a:defRPr sz="24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pPr>
            <a:r>
              <a:rPr sz="2400">
                <a:solidFill>
                  <a:srgbClr val="193B39"/>
                </a:solidFill>
                <a:latin typeface="Georgia"/>
                <a:ea typeface="Georgia"/>
                <a:cs typeface="Georgia"/>
              </a:rPr>
              <a:t>Запись в leads и generate_lead</a:t>
            </a:r>
          </a:p>
          <a:p xmlns:a="http://schemas.openxmlformats.org/drawingml/2006/main">
            <a:pPr algn="l">
              <a:defRPr sz="24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pPr>
            <a:r>
              <a:rPr sz="2400">
                <a:solidFill>
                  <a:srgbClr val="193B39"/>
                </a:solidFill>
                <a:latin typeface="Georgia"/>
                <a:ea typeface="Georgia"/>
                <a:cs typeface="Georgia"/>
              </a:rPr>
              <a:t>подтверждены отдельно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49BD90-759E-4233-A261-4C74453799F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1519d706c049f8"/>
          <a:stretch xmlns:a="http://schemas.openxmlformats.org/drawingml/2006/main"/>
        </p:blipFill>
        <p:spPr>
          <a:xfrm xmlns:a="http://schemas.openxmlformats.org/drawingml/2006/main">
            <a:off x="9629896" y="2000250"/>
            <a:ext cx="4552709" cy="56197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312699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93B3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06">
            <a:extLst xmlns:a="http://schemas.openxmlformats.org/drawingml/2006/main">
              <a:ext uri="{FF2B5EF4-FFF2-40B4-BE49-F238E27FC236}">
                <a16:creationId xmlns:a16="http://schemas.microsoft.com/office/drawing/2014/main" id="{CF33B67C-02CB-43B9-9146-095E03090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63625" y="7858125"/>
            <a:ext cx="714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2025">
                <a:solidFill>
                  <a:srgbClr val="C8D5CC"/>
                </a:solidFill>
                <a:latin typeface="Georgia"/>
                <a:ea typeface="Georgia"/>
                <a:cs typeface="Georgia"/>
              </a:defRPr>
            </a:defPPr>
            <a:lvl1pPr algn="r">
              <a:defRPr sz="2025">
                <a:solidFill>
                  <a:srgbClr val="C8D5CC"/>
                </a:solidFill>
                <a:latin typeface="Georgia"/>
                <a:ea typeface="Georgia"/>
                <a:cs typeface="Georgia"/>
              </a:defRPr>
            </a:lvl1pPr>
            <a:lvl2pPr algn="r">
              <a:defRPr sz="2025">
                <a:solidFill>
                  <a:srgbClr val="C8D5CC"/>
                </a:solidFill>
                <a:latin typeface="Georgia"/>
                <a:ea typeface="Georgia"/>
                <a:cs typeface="Georgia"/>
              </a:defRPr>
            </a:lvl2pPr>
            <a:lvl3pPr algn="r">
              <a:defRPr sz="2025">
                <a:solidFill>
                  <a:srgbClr val="C8D5CC"/>
                </a:solidFill>
                <a:latin typeface="Georgia"/>
                <a:ea typeface="Georgia"/>
                <a:cs typeface="Georgia"/>
              </a:defRPr>
            </a:lvl3pPr>
            <a:lvl4pPr algn="r">
              <a:defRPr sz="2025">
                <a:solidFill>
                  <a:srgbClr val="C8D5CC"/>
                </a:solidFill>
                <a:latin typeface="Georgia"/>
                <a:ea typeface="Georgia"/>
                <a:cs typeface="Georgia"/>
              </a:defRPr>
            </a:lvl4pPr>
            <a:lvl5pPr algn="r">
              <a:defRPr sz="2025">
                <a:solidFill>
                  <a:srgbClr val="C8D5CC"/>
                </a:solidFill>
                <a:latin typeface="Georgia"/>
                <a:ea typeface="Georgia"/>
                <a:cs typeface="Georgia"/>
              </a:defRPr>
            </a:lvl5pPr>
            <a:lvl6pPr algn="r">
              <a:defRPr sz="2025">
                <a:solidFill>
                  <a:srgbClr val="C8D5CC"/>
                </a:solidFill>
                <a:latin typeface="Georgia"/>
                <a:ea typeface="Georgia"/>
                <a:cs typeface="Georgia"/>
              </a:defRPr>
            </a:lvl6pPr>
            <a:lvl7pPr algn="r">
              <a:defRPr sz="2025">
                <a:solidFill>
                  <a:srgbClr val="C8D5CC"/>
                </a:solidFill>
                <a:latin typeface="Georgia"/>
                <a:ea typeface="Georgia"/>
                <a:cs typeface="Georgia"/>
              </a:defRPr>
            </a:lvl7pPr>
            <a:lvl8pPr algn="r">
              <a:defRPr sz="2025">
                <a:solidFill>
                  <a:srgbClr val="C8D5CC"/>
                </a:solidFill>
                <a:latin typeface="Georgia"/>
                <a:ea typeface="Georgia"/>
                <a:cs typeface="Georgia"/>
              </a:defRPr>
            </a:lvl8pPr>
            <a:lvl9pPr algn="r">
              <a:defRPr sz="2025">
                <a:solidFill>
                  <a:srgbClr val="C8D5CC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algn="r">
              <a:defRPr sz="2025">
                <a:solidFill>
                  <a:srgbClr val="C8D5CC"/>
                </a:solidFill>
                <a:latin typeface="Georgia"/>
                <a:ea typeface="Georgia"/>
                <a:cs typeface="Georgia"/>
              </a:defRPr>
            </a:pPr>
            <a:r>
              <a:rPr sz="2025">
                <a:solidFill>
                  <a:srgbClr val="C8D5CC"/>
                </a:solidFill>
                <a:latin typeface="Georgia"/>
                <a:ea typeface="Georgia"/>
                <a:cs typeface="Georgia"/>
              </a:rPr>
              <a:t>06</a:t>
            </a:r>
          </a:p>
        </p:txBody>
      </p:sp>
      <p:sp>
        <p:nvSpPr>
          <p:cNvPr id="2" name="Два автоответа в Instagram">
            <a:extLst xmlns:a="http://schemas.openxmlformats.org/drawingml/2006/main">
              <a:ext uri="{FF2B5EF4-FFF2-40B4-BE49-F238E27FC236}">
                <a16:creationId xmlns:a16="http://schemas.microsoft.com/office/drawing/2014/main" id="{FA6A1519-2BEC-4DB3-AFF8-9BC06B1BD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3620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4650">
                <a:solidFill>
                  <a:srgbClr val="F4F6F0"/>
                </a:solidFill>
                <a:latin typeface="Georgia"/>
                <a:ea typeface="Georgia"/>
                <a:cs typeface="Georgia"/>
              </a:defRPr>
            </a:defPPr>
            <a:lvl1pPr algn="l">
              <a:defRPr sz="4650">
                <a:solidFill>
                  <a:srgbClr val="F4F6F0"/>
                </a:solidFill>
                <a:latin typeface="Georgia"/>
                <a:ea typeface="Georgia"/>
                <a:cs typeface="Georgia"/>
              </a:defRPr>
            </a:lvl1pPr>
            <a:lvl2pPr algn="l">
              <a:defRPr sz="4650">
                <a:solidFill>
                  <a:srgbClr val="F4F6F0"/>
                </a:solidFill>
                <a:latin typeface="Georgia"/>
                <a:ea typeface="Georgia"/>
                <a:cs typeface="Georgia"/>
              </a:defRPr>
            </a:lvl2pPr>
            <a:lvl3pPr algn="l">
              <a:defRPr sz="4650">
                <a:solidFill>
                  <a:srgbClr val="F4F6F0"/>
                </a:solidFill>
                <a:latin typeface="Georgia"/>
                <a:ea typeface="Georgia"/>
                <a:cs typeface="Georgia"/>
              </a:defRPr>
            </a:lvl3pPr>
            <a:lvl4pPr algn="l">
              <a:defRPr sz="4650">
                <a:solidFill>
                  <a:srgbClr val="F4F6F0"/>
                </a:solidFill>
                <a:latin typeface="Georgia"/>
                <a:ea typeface="Georgia"/>
                <a:cs typeface="Georgia"/>
              </a:defRPr>
            </a:lvl4pPr>
            <a:lvl5pPr algn="l">
              <a:defRPr sz="4650">
                <a:solidFill>
                  <a:srgbClr val="F4F6F0"/>
                </a:solidFill>
                <a:latin typeface="Georgia"/>
                <a:ea typeface="Georgia"/>
                <a:cs typeface="Georgia"/>
              </a:defRPr>
            </a:lvl5pPr>
            <a:lvl6pPr algn="l">
              <a:defRPr sz="4650">
                <a:solidFill>
                  <a:srgbClr val="F4F6F0"/>
                </a:solidFill>
                <a:latin typeface="Georgia"/>
                <a:ea typeface="Georgia"/>
                <a:cs typeface="Georgia"/>
              </a:defRPr>
            </a:lvl6pPr>
            <a:lvl7pPr algn="l">
              <a:defRPr sz="4650">
                <a:solidFill>
                  <a:srgbClr val="F4F6F0"/>
                </a:solidFill>
                <a:latin typeface="Georgia"/>
                <a:ea typeface="Georgia"/>
                <a:cs typeface="Georgia"/>
              </a:defRPr>
            </a:lvl7pPr>
            <a:lvl8pPr algn="l">
              <a:defRPr sz="4650">
                <a:solidFill>
                  <a:srgbClr val="F4F6F0"/>
                </a:solidFill>
                <a:latin typeface="Georgia"/>
                <a:ea typeface="Georgia"/>
                <a:cs typeface="Georgia"/>
              </a:defRPr>
            </a:lvl8pPr>
            <a:lvl9pPr algn="l">
              <a:defRPr sz="4650">
                <a:solidFill>
                  <a:srgbClr val="F4F6F0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algn="l">
              <a:defRPr sz="4650">
                <a:solidFill>
                  <a:srgbClr val="F4F6F0"/>
                </a:solidFill>
                <a:latin typeface="Georgia"/>
                <a:ea typeface="Georgia"/>
                <a:cs typeface="Georgia"/>
              </a:defRPr>
            </a:pPr>
            <a:r>
              <a:rPr sz="4650">
                <a:solidFill>
                  <a:srgbClr val="F4F6F0"/>
                </a:solidFill>
                <a:latin typeface="Georgia"/>
                <a:ea typeface="Georgia"/>
                <a:cs typeface="Georgia"/>
              </a:rPr>
              <a:t>Два автоответа в Instagram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B0E7C0-CB05-42C0-9B99-4606D1FDFC4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87107921d04be4"/>
          <a:stretch xmlns:a="http://schemas.openxmlformats.org/drawingml/2006/main"/>
        </p:blipFill>
        <p:spPr>
          <a:xfrm xmlns:a="http://schemas.openxmlformats.org/drawingml/2006/main">
            <a:off x="762000" y="2037953"/>
            <a:ext cx="6667500" cy="4306094"/>
          </a:xfrm>
          <a:prstGeom xmlns:a="http://schemas.openxmlformats.org/drawingml/2006/main" prst="rect">
            <a:avLst/>
          </a:prstGeom>
        </p:spPr>
      </p:pic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F47A6F-BB46-4F1F-965F-4AFB6826170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9a53ddd133499b"/>
          <a:stretch xmlns:a="http://schemas.openxmlformats.org/drawingml/2006/main"/>
        </p:blipFill>
        <p:spPr>
          <a:xfrm xmlns:a="http://schemas.openxmlformats.org/drawingml/2006/main">
            <a:off x="8191500" y="2846052"/>
            <a:ext cx="6286500" cy="2689897"/>
          </a:xfrm>
          <a:prstGeom xmlns:a="http://schemas.openxmlformats.org/drawingml/2006/main" prst="rect">
            <a:avLst/>
          </a:prstGeom>
        </p:spPr>
      </p:pic>
      <p:sp>
        <p:nvSpPr>
          <p:cNvPr id="5" name="СНАРЯГА и НОВИЧОК&#10;Ответы на коммент">
            <a:extLst xmlns:a="http://schemas.openxmlformats.org/drawingml/2006/main">
              <a:ext uri="{FF2B5EF4-FFF2-40B4-BE49-F238E27FC236}">
                <a16:creationId xmlns:a16="http://schemas.microsoft.com/office/drawing/2014/main" id="{28745886-D4BE-44BC-9B7F-CB7405AD2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762750"/>
            <a:ext cx="6667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defPPr>
            <a:lvl1pPr algn="l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1pPr>
            <a:lvl2pPr algn="l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2pPr>
            <a:lvl3pPr algn="l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3pPr>
            <a:lvl4pPr algn="l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4pPr>
            <a:lvl5pPr algn="l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5pPr>
            <a:lvl6pPr algn="l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6pPr>
            <a:lvl7pPr algn="l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7pPr>
            <a:lvl8pPr algn="l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8pPr>
            <a:lvl9pPr algn="l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algn="l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40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СНАРЯГА и НОВИЧОК</a:t>
            </a:r>
          </a:p>
          <a:p xmlns:a="http://schemas.openxmlformats.org/drawingml/2006/main">
            <a:pPr algn="l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40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Ответы на комментарии</a:t>
            </a:r>
          </a:p>
        </p:txBody>
      </p:sp>
      <p:sp>
        <p:nvSpPr>
          <p:cNvPr id="6" name="Кнопка в Direct&#10;Ссылка с UTM на сай">
            <a:extLst xmlns:a="http://schemas.openxmlformats.org/drawingml/2006/main">
              <a:ext uri="{FF2B5EF4-FFF2-40B4-BE49-F238E27FC236}">
                <a16:creationId xmlns:a16="http://schemas.microsoft.com/office/drawing/2014/main" id="{97AECAF0-4D58-470D-B506-F8438B938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762750"/>
            <a:ext cx="6286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defPPr>
            <a:lvl1pPr algn="l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1pPr>
            <a:lvl2pPr algn="l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2pPr>
            <a:lvl3pPr algn="l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3pPr>
            <a:lvl4pPr algn="l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4pPr>
            <a:lvl5pPr algn="l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5pPr>
            <a:lvl6pPr algn="l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6pPr>
            <a:lvl7pPr algn="l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7pPr>
            <a:lvl8pPr algn="l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8pPr>
            <a:lvl9pPr algn="l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algn="l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40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Кнопка в Direct</a:t>
            </a:r>
          </a:p>
          <a:p xmlns:a="http://schemas.openxmlformats.org/drawingml/2006/main">
            <a:pPr algn="l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40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Ссылка с UTM на сайт</a:t>
            </a:r>
          </a:p>
        </p:txBody>
      </p:sp>
    </p:spTree>
    <p:extLst>
      <p:ext uri="{BB962C8B-B14F-4D97-AF65-F5344CB8AC3E}">
        <p14:creationId xmlns:p14="http://schemas.microsoft.com/office/powerpoint/2010/main" val="13619588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6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07">
            <a:extLst xmlns:a="http://schemas.openxmlformats.org/drawingml/2006/main">
              <a:ext uri="{FF2B5EF4-FFF2-40B4-BE49-F238E27FC236}">
                <a16:creationId xmlns:a16="http://schemas.microsoft.com/office/drawing/2014/main" id="{0F1C9EE2-B2ED-4E19-864F-C2DA190BA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63625" y="7858125"/>
            <a:ext cx="714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defPPr>
            <a:lvl1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1pPr>
            <a:lvl2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2pPr>
            <a:lvl3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3pPr>
            <a:lvl4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4pPr>
            <a:lvl5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5pPr>
            <a:lvl6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6pPr>
            <a:lvl7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7pPr>
            <a:lvl8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8pPr>
            <a:lvl9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pPr>
            <a:r>
              <a:rPr sz="2025">
                <a:solidFill>
                  <a:srgbClr val="58716A"/>
                </a:solidFill>
                <a:latin typeface="Georgia"/>
                <a:ea typeface="Georgia"/>
                <a:cs typeface="Georgia"/>
              </a:rPr>
              <a:t>07</a:t>
            </a:r>
          </a:p>
        </p:txBody>
      </p:sp>
      <p:sp>
        <p:nvSpPr>
          <p:cNvPr id="2" name="GA4 показывает источники сеансов">
            <a:extLst xmlns:a="http://schemas.openxmlformats.org/drawingml/2006/main">
              <a:ext uri="{FF2B5EF4-FFF2-40B4-BE49-F238E27FC236}">
                <a16:creationId xmlns:a16="http://schemas.microsoft.com/office/drawing/2014/main" id="{659A2658-37AB-4632-80F2-50147ECEB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3620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defPPr>
            <a:lvl1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1pPr>
            <a:lvl2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2pPr>
            <a:lvl3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3pPr>
            <a:lvl4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4pPr>
            <a:lvl5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5pPr>
            <a:lvl6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6pPr>
            <a:lvl7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7pPr>
            <a:lvl8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8pPr>
            <a:lvl9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pPr>
            <a:r>
              <a:rPr sz="4650">
                <a:solidFill>
                  <a:srgbClr val="193B39"/>
                </a:solidFill>
                <a:latin typeface="Georgia"/>
                <a:ea typeface="Georgia"/>
                <a:cs typeface="Georgia"/>
              </a:rPr>
              <a:t>GA4 показывает источники сеансов</a:t>
            </a:r>
          </a:p>
        </p:txBody>
      </p:sp>
      <p:sp>
        <p:nvSpPr>
          <p:cNvPr id="3" name="17">
            <a:extLst xmlns:a="http://schemas.openxmlformats.org/drawingml/2006/main">
              <a:ext uri="{FF2B5EF4-FFF2-40B4-BE49-F238E27FC236}">
                <a16:creationId xmlns:a16="http://schemas.microsoft.com/office/drawing/2014/main" id="{83947176-B89E-4450-B250-331CA14B9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90750"/>
            <a:ext cx="381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90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defPPr>
            <a:lvl1pPr algn="l">
              <a:defRPr sz="90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1pPr>
            <a:lvl2pPr algn="l">
              <a:defRPr sz="90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2pPr>
            <a:lvl3pPr algn="l">
              <a:defRPr sz="90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3pPr>
            <a:lvl4pPr algn="l">
              <a:defRPr sz="90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4pPr>
            <a:lvl5pPr algn="l">
              <a:defRPr sz="90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5pPr>
            <a:lvl6pPr algn="l">
              <a:defRPr sz="90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6pPr>
            <a:lvl7pPr algn="l">
              <a:defRPr sz="90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7pPr>
            <a:lvl8pPr algn="l">
              <a:defRPr sz="90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8pPr>
            <a:lvl9pPr algn="l">
              <a:defRPr sz="90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algn="l">
              <a:defRPr sz="90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pPr>
            <a:r>
              <a:rPr sz="9000">
                <a:solidFill>
                  <a:srgbClr val="193B39"/>
                </a:solidFill>
                <a:latin typeface="Georgia"/>
                <a:ea typeface="Georgia"/>
                <a:cs typeface="Georgia"/>
              </a:rPr>
              <a:t>17</a:t>
            </a:r>
          </a:p>
        </p:txBody>
      </p:sp>
      <p:sp>
        <p:nvSpPr>
          <p:cNvPr id="4" name="сеансов в отчёте&#10;за 27–30 октября">
            <a:extLst xmlns:a="http://schemas.openxmlformats.org/drawingml/2006/main">
              <a:ext uri="{FF2B5EF4-FFF2-40B4-BE49-F238E27FC236}">
                <a16:creationId xmlns:a16="http://schemas.microsoft.com/office/drawing/2014/main" id="{25E602D3-D7BB-4369-B5AC-A064E295D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714750"/>
            <a:ext cx="4476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5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defPPr>
            <a:lvl1pPr algn="l">
              <a:defRPr sz="25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1pPr>
            <a:lvl2pPr algn="l">
              <a:defRPr sz="25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2pPr>
            <a:lvl3pPr algn="l">
              <a:defRPr sz="25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3pPr>
            <a:lvl4pPr algn="l">
              <a:defRPr sz="25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4pPr>
            <a:lvl5pPr algn="l">
              <a:defRPr sz="25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5pPr>
            <a:lvl6pPr algn="l">
              <a:defRPr sz="25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6pPr>
            <a:lvl7pPr algn="l">
              <a:defRPr sz="25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7pPr>
            <a:lvl8pPr algn="l">
              <a:defRPr sz="25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8pPr>
            <a:lvl9pPr algn="l">
              <a:defRPr sz="25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algn="l">
              <a:defRPr sz="25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pPr>
            <a:r>
              <a:rPr sz="2550">
                <a:solidFill>
                  <a:srgbClr val="193B39"/>
                </a:solidFill>
                <a:latin typeface="Georgia"/>
                <a:ea typeface="Georgia"/>
                <a:cs typeface="Georgia"/>
              </a:rPr>
              <a:t>сеансов в отчёте</a:t>
            </a:r>
          </a:p>
          <a:p xmlns:a="http://schemas.openxmlformats.org/drawingml/2006/main">
            <a:pPr algn="l">
              <a:defRPr sz="25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pPr>
            <a:r>
              <a:rPr sz="2550">
                <a:solidFill>
                  <a:srgbClr val="193B39"/>
                </a:solidFill>
                <a:latin typeface="Georgia"/>
                <a:ea typeface="Georgia"/>
                <a:cs typeface="Georgia"/>
              </a:rPr>
              <a:t>за 27–30 октября</a:t>
            </a:r>
          </a:p>
        </p:txBody>
      </p:sp>
      <p:sp>
        <p:nvSpPr>
          <p:cNvPr id="5" name="G-JG7PNX1WWW&#10;20 имён событий&#10;7 спец">
            <a:extLst xmlns:a="http://schemas.openxmlformats.org/drawingml/2006/main">
              <a:ext uri="{FF2B5EF4-FFF2-40B4-BE49-F238E27FC236}">
                <a16:creationId xmlns:a16="http://schemas.microsoft.com/office/drawing/2014/main" id="{1652804F-43CD-42A4-88BB-CC11BAC80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476875"/>
            <a:ext cx="4953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25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defPPr>
            <a:lvl1pPr algn="l">
              <a:defRPr sz="225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1pPr>
            <a:lvl2pPr algn="l">
              <a:defRPr sz="225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2pPr>
            <a:lvl3pPr algn="l">
              <a:defRPr sz="225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3pPr>
            <a:lvl4pPr algn="l">
              <a:defRPr sz="225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4pPr>
            <a:lvl5pPr algn="l">
              <a:defRPr sz="225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5pPr>
            <a:lvl6pPr algn="l">
              <a:defRPr sz="225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6pPr>
            <a:lvl7pPr algn="l">
              <a:defRPr sz="225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7pPr>
            <a:lvl8pPr algn="l">
              <a:defRPr sz="225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8pPr>
            <a:lvl9pPr algn="l">
              <a:defRPr sz="225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algn="l">
              <a:defRPr sz="225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pPr>
            <a:r>
              <a:rPr sz="2250">
                <a:solidFill>
                  <a:srgbClr val="58716A"/>
                </a:solidFill>
                <a:latin typeface="Georgia"/>
                <a:ea typeface="Georgia"/>
                <a:cs typeface="Georgia"/>
              </a:rPr>
              <a:t>G-JG7PNX1WWW</a:t>
            </a:r>
          </a:p>
          <a:p xmlns:a="http://schemas.openxmlformats.org/drawingml/2006/main">
            <a:pPr algn="l">
              <a:defRPr sz="225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pPr>
            <a:r>
              <a:rPr sz="2250">
                <a:solidFill>
                  <a:srgbClr val="58716A"/>
                </a:solidFill>
                <a:latin typeface="Georgia"/>
                <a:ea typeface="Georgia"/>
                <a:cs typeface="Georgia"/>
              </a:rPr>
              <a:t>20 имён событий</a:t>
            </a:r>
          </a:p>
          <a:p xmlns:a="http://schemas.openxmlformats.org/drawingml/2006/main">
            <a:pPr algn="l">
              <a:defRPr sz="225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pPr>
            <a:r>
              <a:rPr sz="2250">
                <a:solidFill>
                  <a:srgbClr val="58716A"/>
                </a:solidFill>
                <a:latin typeface="Georgia"/>
                <a:ea typeface="Georgia"/>
                <a:cs typeface="Georgia"/>
              </a:rPr>
              <a:t>7 специальных параметров</a:t>
            </a:r>
          </a:p>
        </p:txBody>
      </p:sp>
      <p:graphicFrame>
        <p:nvGraphicFramePr>
          <p:cNvPr id="6" name="Chart">
            <a:extLst xmlns:a="http://schemas.openxmlformats.org/drawingml/2006/main">
              <a:ext uri="{FF2B5EF4-FFF2-40B4-BE49-F238E27FC236}">
                <a16:creationId xmlns:a16="http://schemas.microsoft.com/office/drawing/2014/main" id="{9E64ECAA-FFC6-4121-9FFE-717F34828D46}"/>
              </a:ext>
            </a:extLst>
          </p:cNvPr>
          <p:cNvGraphicFramePr/>
          <p:nvPr/>
        </p:nvGraphicFramePr>
        <p:xfrm>
          <a:off xmlns:a="http://schemas.openxmlformats.org/drawingml/2006/main" x="6096000" y="2095500"/>
          <a:ext xmlns:a="http://schemas.openxmlformats.org/drawingml/2006/main" cx="80962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c75b79ec83c4118"/>
          </a:graphicData>
        </a:graphic>
      </p:graphicFrame>
      <p:sp>
        <p:nvSpPr>
          <p:cNvPr id="7" name="Показаны три строки отчёта. Есть (n">
            <a:extLst xmlns:a="http://schemas.openxmlformats.org/drawingml/2006/main">
              <a:ext uri="{FF2B5EF4-FFF2-40B4-BE49-F238E27FC236}">
                <a16:creationId xmlns:a16="http://schemas.microsoft.com/office/drawing/2014/main" id="{F8532BB1-1967-45D9-8E65-3B7F661C8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6905625"/>
            <a:ext cx="8096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0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defPPr>
            <a:lvl1pPr algn="l">
              <a:defRPr sz="210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1pPr>
            <a:lvl2pPr algn="l">
              <a:defRPr sz="210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2pPr>
            <a:lvl3pPr algn="l">
              <a:defRPr sz="210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3pPr>
            <a:lvl4pPr algn="l">
              <a:defRPr sz="210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4pPr>
            <a:lvl5pPr algn="l">
              <a:defRPr sz="210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5pPr>
            <a:lvl6pPr algn="l">
              <a:defRPr sz="210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6pPr>
            <a:lvl7pPr algn="l">
              <a:defRPr sz="210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7pPr>
            <a:lvl8pPr algn="l">
              <a:defRPr sz="210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8pPr>
            <a:lvl9pPr algn="l">
              <a:defRPr sz="210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algn="l">
              <a:defRPr sz="210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pPr>
            <a:r>
              <a:rPr sz="2100">
                <a:solidFill>
                  <a:srgbClr val="58716A"/>
                </a:solidFill>
                <a:latin typeface="Georgia"/>
                <a:ea typeface="Georgia"/>
                <a:cs typeface="Georgia"/>
              </a:rPr>
              <a:t>Показаны три строки отчёта. Есть (not set)</a:t>
            </a:r>
          </a:p>
          <a:p xmlns:a="http://schemas.openxmlformats.org/drawingml/2006/main">
            <a:pPr algn="l">
              <a:defRPr sz="210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pPr>
            <a:r>
              <a:rPr sz="2100">
                <a:solidFill>
                  <a:srgbClr val="58716A"/>
                </a:solidFill>
                <a:latin typeface="Georgia"/>
                <a:ea typeface="Georgia"/>
                <a:cs typeface="Georgia"/>
              </a:rPr>
              <a:t>и несогласованность строк с итогом.</a:t>
            </a:r>
          </a:p>
        </p:txBody>
      </p:sp>
    </p:spTree>
    <p:extLst>
      <p:ext uri="{BB962C8B-B14F-4D97-AF65-F5344CB8AC3E}">
        <p14:creationId xmlns:p14="http://schemas.microsoft.com/office/powerpoint/2010/main" val="16286418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6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08">
            <a:extLst xmlns:a="http://schemas.openxmlformats.org/drawingml/2006/main">
              <a:ext uri="{FF2B5EF4-FFF2-40B4-BE49-F238E27FC236}">
                <a16:creationId xmlns:a16="http://schemas.microsoft.com/office/drawing/2014/main" id="{9DA93B81-196E-447C-8A6F-EA5EA8909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63625" y="7858125"/>
            <a:ext cx="714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defPPr>
            <a:lvl1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1pPr>
            <a:lvl2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2pPr>
            <a:lvl3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3pPr>
            <a:lvl4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4pPr>
            <a:lvl5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5pPr>
            <a:lvl6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6pPr>
            <a:lvl7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7pPr>
            <a:lvl8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8pPr>
            <a:lvl9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pPr>
            <a:r>
              <a:rPr sz="2025">
                <a:solidFill>
                  <a:srgbClr val="58716A"/>
                </a:solidFill>
                <a:latin typeface="Georgia"/>
                <a:ea typeface="Georgia"/>
                <a:cs typeface="Georgia"/>
              </a:rPr>
              <a:t>08</a:t>
            </a:r>
          </a:p>
        </p:txBody>
      </p:sp>
      <p:sp>
        <p:nvSpPr>
          <p:cNvPr id="2" name="Фильтр не описывает все пути">
            <a:extLst xmlns:a="http://schemas.openxmlformats.org/drawingml/2006/main">
              <a:ext uri="{FF2B5EF4-FFF2-40B4-BE49-F238E27FC236}">
                <a16:creationId xmlns:a16="http://schemas.microsoft.com/office/drawing/2014/main" id="{0C60B145-C7A9-44BF-80E8-FBFA954D1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3620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defPPr>
            <a:lvl1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1pPr>
            <a:lvl2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2pPr>
            <a:lvl3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3pPr>
            <a:lvl4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4pPr>
            <a:lvl5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5pPr>
            <a:lvl6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6pPr>
            <a:lvl7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7pPr>
            <a:lvl8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8pPr>
            <a:lvl9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pPr>
            <a:r>
              <a:rPr sz="4650">
                <a:solidFill>
                  <a:srgbClr val="193B39"/>
                </a:solidFill>
                <a:latin typeface="Georgia"/>
                <a:ea typeface="Georgia"/>
                <a:cs typeface="Georgia"/>
              </a:rPr>
              <a:t>Фильтр не описывает все пути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032CFF-927F-4DBD-9BEB-D79F63BFD89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0b7ad321cb4de8"/>
          <a:stretch xmlns:a="http://schemas.openxmlformats.org/drawingml/2006/main"/>
        </p:blipFill>
        <p:spPr>
          <a:xfrm xmlns:a="http://schemas.openxmlformats.org/drawingml/2006/main">
            <a:off x="762000" y="2041071"/>
            <a:ext cx="13716000" cy="3537857"/>
          </a:xfrm>
          <a:prstGeom xmlns:a="http://schemas.openxmlformats.org/drawingml/2006/main" prst="rect">
            <a:avLst/>
          </a:prstGeom>
        </p:spPr>
      </p:pic>
      <p:sp>
        <p:nvSpPr>
          <p:cNvPr id="4" name="Instagram: 1 пользователь прошёл вс">
            <a:extLst xmlns:a="http://schemas.openxmlformats.org/drawingml/2006/main">
              <a:ext uri="{FF2B5EF4-FFF2-40B4-BE49-F238E27FC236}">
                <a16:creationId xmlns:a16="http://schemas.microsoft.com/office/drawing/2014/main" id="{5CFD6D22-CFA3-4D27-BF3F-7E52C773A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53125"/>
            <a:ext cx="1371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7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defPPr>
            <a:lvl1pPr algn="l">
              <a:defRPr sz="27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1pPr>
            <a:lvl2pPr algn="l">
              <a:defRPr sz="27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2pPr>
            <a:lvl3pPr algn="l">
              <a:defRPr sz="27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3pPr>
            <a:lvl4pPr algn="l">
              <a:defRPr sz="27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4pPr>
            <a:lvl5pPr algn="l">
              <a:defRPr sz="27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5pPr>
            <a:lvl6pPr algn="l">
              <a:defRPr sz="27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6pPr>
            <a:lvl7pPr algn="l">
              <a:defRPr sz="27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7pPr>
            <a:lvl8pPr algn="l">
              <a:defRPr sz="27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8pPr>
            <a:lvl9pPr algn="l">
              <a:defRPr sz="27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algn="l">
              <a:defRPr sz="27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pPr>
            <a:r>
              <a:rPr sz="2700">
                <a:solidFill>
                  <a:srgbClr val="193B39"/>
                </a:solidFill>
                <a:latin typeface="Georgia"/>
                <a:ea typeface="Georgia"/>
                <a:cs typeface="Georgia"/>
              </a:rPr>
              <a:t>Instagram: 1 пользователь прошёл все 5 шагов</a:t>
            </a:r>
          </a:p>
        </p:txBody>
      </p:sp>
      <p:sp>
        <p:nvSpPr>
          <p:cNvPr id="5" name="Direct: 3 пользователя на входе, 0 ">
            <a:extLst xmlns:a="http://schemas.openxmlformats.org/drawingml/2006/main">
              <a:ext uri="{FF2B5EF4-FFF2-40B4-BE49-F238E27FC236}">
                <a16:creationId xmlns:a16="http://schemas.microsoft.com/office/drawing/2014/main" id="{408566E9-0D49-42BB-9EEF-A7B6469FA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667500"/>
            <a:ext cx="1371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7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defPPr>
            <a:lvl1pPr algn="l">
              <a:defRPr sz="27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1pPr>
            <a:lvl2pPr algn="l">
              <a:defRPr sz="27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2pPr>
            <a:lvl3pPr algn="l">
              <a:defRPr sz="27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3pPr>
            <a:lvl4pPr algn="l">
              <a:defRPr sz="27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4pPr>
            <a:lvl5pPr algn="l">
              <a:defRPr sz="27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5pPr>
            <a:lvl6pPr algn="l">
              <a:defRPr sz="27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6pPr>
            <a:lvl7pPr algn="l">
              <a:defRPr sz="27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7pPr>
            <a:lvl8pPr algn="l">
              <a:defRPr sz="27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8pPr>
            <a:lvl9pPr algn="l">
              <a:defRPr sz="27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algn="l">
              <a:defRPr sz="27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pPr>
            <a:r>
              <a:rPr sz="2700">
                <a:solidFill>
                  <a:srgbClr val="193B39"/>
                </a:solidFill>
                <a:latin typeface="Georgia"/>
                <a:ea typeface="Georgia"/>
                <a:cs typeface="Georgia"/>
              </a:rPr>
              <a:t>Direct: 3 пользователя на входе, 0 на фильтре</a:t>
            </a:r>
          </a:p>
        </p:txBody>
      </p:sp>
      <p:sp>
        <p:nvSpPr>
          <p:cNvPr id="6" name="27–29.10.2026. Малый учебный тест, ">
            <a:extLst xmlns:a="http://schemas.openxmlformats.org/drawingml/2006/main">
              <a:ext uri="{FF2B5EF4-FFF2-40B4-BE49-F238E27FC236}">
                <a16:creationId xmlns:a16="http://schemas.microsoft.com/office/drawing/2014/main" id="{5D9737B6-4B57-4FE6-8166-BC20B02B6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715250"/>
            <a:ext cx="1343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defPPr>
            <a:lvl1pPr algn="l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1pPr>
            <a:lvl2pPr algn="l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2pPr>
            <a:lvl3pPr algn="l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3pPr>
            <a:lvl4pPr algn="l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4pPr>
            <a:lvl5pPr algn="l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5pPr>
            <a:lvl6pPr algn="l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6pPr>
            <a:lvl7pPr algn="l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7pPr>
            <a:lvl8pPr algn="l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8pPr>
            <a:lvl9pPr algn="l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algn="l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pPr>
            <a:r>
              <a:rPr sz="2025">
                <a:solidFill>
                  <a:srgbClr val="58716A"/>
                </a:solidFill>
                <a:latin typeface="Georgia"/>
                <a:ea typeface="Georgia"/>
                <a:cs typeface="Georgia"/>
              </a:rPr>
              <a:t>27–29.10.2026. Малый учебный тест, не коммерческая конверсия.</a:t>
            </a:r>
          </a:p>
        </p:txBody>
      </p:sp>
    </p:spTree>
    <p:extLst>
      <p:ext uri="{BB962C8B-B14F-4D97-AF65-F5344CB8AC3E}">
        <p14:creationId xmlns:p14="http://schemas.microsoft.com/office/powerpoint/2010/main" val="80096444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93B3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09">
            <a:extLst xmlns:a="http://schemas.openxmlformats.org/drawingml/2006/main">
              <a:ext uri="{FF2B5EF4-FFF2-40B4-BE49-F238E27FC236}">
                <a16:creationId xmlns:a16="http://schemas.microsoft.com/office/drawing/2014/main" id="{DE074437-B73D-4E0C-82A7-97EF170F4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63625" y="7858125"/>
            <a:ext cx="714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2025">
                <a:solidFill>
                  <a:srgbClr val="C8D5CC"/>
                </a:solidFill>
                <a:latin typeface="Georgia"/>
                <a:ea typeface="Georgia"/>
                <a:cs typeface="Georgia"/>
              </a:defRPr>
            </a:defPPr>
            <a:lvl1pPr algn="r">
              <a:defRPr sz="2025">
                <a:solidFill>
                  <a:srgbClr val="C8D5CC"/>
                </a:solidFill>
                <a:latin typeface="Georgia"/>
                <a:ea typeface="Georgia"/>
                <a:cs typeface="Georgia"/>
              </a:defRPr>
            </a:lvl1pPr>
            <a:lvl2pPr algn="r">
              <a:defRPr sz="2025">
                <a:solidFill>
                  <a:srgbClr val="C8D5CC"/>
                </a:solidFill>
                <a:latin typeface="Georgia"/>
                <a:ea typeface="Georgia"/>
                <a:cs typeface="Georgia"/>
              </a:defRPr>
            </a:lvl2pPr>
            <a:lvl3pPr algn="r">
              <a:defRPr sz="2025">
                <a:solidFill>
                  <a:srgbClr val="C8D5CC"/>
                </a:solidFill>
                <a:latin typeface="Georgia"/>
                <a:ea typeface="Georgia"/>
                <a:cs typeface="Georgia"/>
              </a:defRPr>
            </a:lvl3pPr>
            <a:lvl4pPr algn="r">
              <a:defRPr sz="2025">
                <a:solidFill>
                  <a:srgbClr val="C8D5CC"/>
                </a:solidFill>
                <a:latin typeface="Georgia"/>
                <a:ea typeface="Georgia"/>
                <a:cs typeface="Georgia"/>
              </a:defRPr>
            </a:lvl4pPr>
            <a:lvl5pPr algn="r">
              <a:defRPr sz="2025">
                <a:solidFill>
                  <a:srgbClr val="C8D5CC"/>
                </a:solidFill>
                <a:latin typeface="Georgia"/>
                <a:ea typeface="Georgia"/>
                <a:cs typeface="Georgia"/>
              </a:defRPr>
            </a:lvl5pPr>
            <a:lvl6pPr algn="r">
              <a:defRPr sz="2025">
                <a:solidFill>
                  <a:srgbClr val="C8D5CC"/>
                </a:solidFill>
                <a:latin typeface="Georgia"/>
                <a:ea typeface="Georgia"/>
                <a:cs typeface="Georgia"/>
              </a:defRPr>
            </a:lvl6pPr>
            <a:lvl7pPr algn="r">
              <a:defRPr sz="2025">
                <a:solidFill>
                  <a:srgbClr val="C8D5CC"/>
                </a:solidFill>
                <a:latin typeface="Georgia"/>
                <a:ea typeface="Georgia"/>
                <a:cs typeface="Georgia"/>
              </a:defRPr>
            </a:lvl7pPr>
            <a:lvl8pPr algn="r">
              <a:defRPr sz="2025">
                <a:solidFill>
                  <a:srgbClr val="C8D5CC"/>
                </a:solidFill>
                <a:latin typeface="Georgia"/>
                <a:ea typeface="Georgia"/>
                <a:cs typeface="Georgia"/>
              </a:defRPr>
            </a:lvl8pPr>
            <a:lvl9pPr algn="r">
              <a:defRPr sz="2025">
                <a:solidFill>
                  <a:srgbClr val="C8D5CC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algn="r">
              <a:defRPr sz="2025">
                <a:solidFill>
                  <a:srgbClr val="C8D5CC"/>
                </a:solidFill>
                <a:latin typeface="Georgia"/>
                <a:ea typeface="Georgia"/>
                <a:cs typeface="Georgia"/>
              </a:defRPr>
            </a:pPr>
            <a:r>
              <a:rPr sz="2025">
                <a:solidFill>
                  <a:srgbClr val="C8D5CC"/>
                </a:solidFill>
                <a:latin typeface="Georgia"/>
                <a:ea typeface="Georgia"/>
                <a:cs typeface="Georgia"/>
              </a:rPr>
              <a:t>09</a:t>
            </a:r>
          </a:p>
        </p:txBody>
      </p:sp>
      <p:sp>
        <p:nvSpPr>
          <p:cNvPr id="2" name="Заявки и события требуют сверки">
            <a:extLst xmlns:a="http://schemas.openxmlformats.org/drawingml/2006/main">
              <a:ext uri="{FF2B5EF4-FFF2-40B4-BE49-F238E27FC236}">
                <a16:creationId xmlns:a16="http://schemas.microsoft.com/office/drawing/2014/main" id="{23407D8A-AD30-4685-98EF-0EA43BA92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3620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4650">
                <a:solidFill>
                  <a:srgbClr val="F4F6F0"/>
                </a:solidFill>
                <a:latin typeface="Georgia"/>
                <a:ea typeface="Georgia"/>
                <a:cs typeface="Georgia"/>
              </a:defRPr>
            </a:defPPr>
            <a:lvl1pPr algn="l">
              <a:defRPr sz="4650">
                <a:solidFill>
                  <a:srgbClr val="F4F6F0"/>
                </a:solidFill>
                <a:latin typeface="Georgia"/>
                <a:ea typeface="Georgia"/>
                <a:cs typeface="Georgia"/>
              </a:defRPr>
            </a:lvl1pPr>
            <a:lvl2pPr algn="l">
              <a:defRPr sz="4650">
                <a:solidFill>
                  <a:srgbClr val="F4F6F0"/>
                </a:solidFill>
                <a:latin typeface="Georgia"/>
                <a:ea typeface="Georgia"/>
                <a:cs typeface="Georgia"/>
              </a:defRPr>
            </a:lvl2pPr>
            <a:lvl3pPr algn="l">
              <a:defRPr sz="4650">
                <a:solidFill>
                  <a:srgbClr val="F4F6F0"/>
                </a:solidFill>
                <a:latin typeface="Georgia"/>
                <a:ea typeface="Georgia"/>
                <a:cs typeface="Georgia"/>
              </a:defRPr>
            </a:lvl3pPr>
            <a:lvl4pPr algn="l">
              <a:defRPr sz="4650">
                <a:solidFill>
                  <a:srgbClr val="F4F6F0"/>
                </a:solidFill>
                <a:latin typeface="Georgia"/>
                <a:ea typeface="Georgia"/>
                <a:cs typeface="Georgia"/>
              </a:defRPr>
            </a:lvl4pPr>
            <a:lvl5pPr algn="l">
              <a:defRPr sz="4650">
                <a:solidFill>
                  <a:srgbClr val="F4F6F0"/>
                </a:solidFill>
                <a:latin typeface="Georgia"/>
                <a:ea typeface="Georgia"/>
                <a:cs typeface="Georgia"/>
              </a:defRPr>
            </a:lvl5pPr>
            <a:lvl6pPr algn="l">
              <a:defRPr sz="4650">
                <a:solidFill>
                  <a:srgbClr val="F4F6F0"/>
                </a:solidFill>
                <a:latin typeface="Georgia"/>
                <a:ea typeface="Georgia"/>
                <a:cs typeface="Georgia"/>
              </a:defRPr>
            </a:lvl6pPr>
            <a:lvl7pPr algn="l">
              <a:defRPr sz="4650">
                <a:solidFill>
                  <a:srgbClr val="F4F6F0"/>
                </a:solidFill>
                <a:latin typeface="Georgia"/>
                <a:ea typeface="Georgia"/>
                <a:cs typeface="Georgia"/>
              </a:defRPr>
            </a:lvl7pPr>
            <a:lvl8pPr algn="l">
              <a:defRPr sz="4650">
                <a:solidFill>
                  <a:srgbClr val="F4F6F0"/>
                </a:solidFill>
                <a:latin typeface="Georgia"/>
                <a:ea typeface="Georgia"/>
                <a:cs typeface="Georgia"/>
              </a:defRPr>
            </a:lvl8pPr>
            <a:lvl9pPr algn="l">
              <a:defRPr sz="4650">
                <a:solidFill>
                  <a:srgbClr val="F4F6F0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algn="l">
              <a:defRPr sz="4650">
                <a:solidFill>
                  <a:srgbClr val="F4F6F0"/>
                </a:solidFill>
                <a:latin typeface="Georgia"/>
                <a:ea typeface="Georgia"/>
                <a:cs typeface="Georgia"/>
              </a:defRPr>
            </a:pPr>
            <a:r>
              <a:rPr sz="4650">
                <a:solidFill>
                  <a:srgbClr val="F4F6F0"/>
                </a:solidFill>
                <a:latin typeface="Georgia"/>
                <a:ea typeface="Georgia"/>
                <a:cs typeface="Georgia"/>
              </a:rPr>
              <a:t>Заявки и события требуют сверки</a:t>
            </a:r>
          </a:p>
        </p:txBody>
      </p:sp>
      <p:sp>
        <p:nvSpPr>
          <p:cNvPr id="3" name="11">
            <a:extLst xmlns:a="http://schemas.openxmlformats.org/drawingml/2006/main">
              <a:ext uri="{FF2B5EF4-FFF2-40B4-BE49-F238E27FC236}">
                <a16:creationId xmlns:a16="http://schemas.microsoft.com/office/drawing/2014/main" id="{4A0782DB-A96C-46FC-8610-0A2D8EBD3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90750"/>
            <a:ext cx="57150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0875">
                <a:solidFill>
                  <a:srgbClr val="EAB64F"/>
                </a:solidFill>
                <a:latin typeface="Georgia"/>
                <a:ea typeface="Georgia"/>
                <a:cs typeface="Georgia"/>
              </a:defRPr>
            </a:defPPr>
            <a:lvl1pPr algn="l">
              <a:defRPr sz="10875">
                <a:solidFill>
                  <a:srgbClr val="EAB64F"/>
                </a:solidFill>
                <a:latin typeface="Georgia"/>
                <a:ea typeface="Georgia"/>
                <a:cs typeface="Georgia"/>
              </a:defRPr>
            </a:lvl1pPr>
            <a:lvl2pPr algn="l">
              <a:defRPr sz="10875">
                <a:solidFill>
                  <a:srgbClr val="EAB64F"/>
                </a:solidFill>
                <a:latin typeface="Georgia"/>
                <a:ea typeface="Georgia"/>
                <a:cs typeface="Georgia"/>
              </a:defRPr>
            </a:lvl2pPr>
            <a:lvl3pPr algn="l">
              <a:defRPr sz="10875">
                <a:solidFill>
                  <a:srgbClr val="EAB64F"/>
                </a:solidFill>
                <a:latin typeface="Georgia"/>
                <a:ea typeface="Georgia"/>
                <a:cs typeface="Georgia"/>
              </a:defRPr>
            </a:lvl3pPr>
            <a:lvl4pPr algn="l">
              <a:defRPr sz="10875">
                <a:solidFill>
                  <a:srgbClr val="EAB64F"/>
                </a:solidFill>
                <a:latin typeface="Georgia"/>
                <a:ea typeface="Georgia"/>
                <a:cs typeface="Georgia"/>
              </a:defRPr>
            </a:lvl4pPr>
            <a:lvl5pPr algn="l">
              <a:defRPr sz="10875">
                <a:solidFill>
                  <a:srgbClr val="EAB64F"/>
                </a:solidFill>
                <a:latin typeface="Georgia"/>
                <a:ea typeface="Georgia"/>
                <a:cs typeface="Georgia"/>
              </a:defRPr>
            </a:lvl5pPr>
            <a:lvl6pPr algn="l">
              <a:defRPr sz="10875">
                <a:solidFill>
                  <a:srgbClr val="EAB64F"/>
                </a:solidFill>
                <a:latin typeface="Georgia"/>
                <a:ea typeface="Georgia"/>
                <a:cs typeface="Georgia"/>
              </a:defRPr>
            </a:lvl6pPr>
            <a:lvl7pPr algn="l">
              <a:defRPr sz="10875">
                <a:solidFill>
                  <a:srgbClr val="EAB64F"/>
                </a:solidFill>
                <a:latin typeface="Georgia"/>
                <a:ea typeface="Georgia"/>
                <a:cs typeface="Georgia"/>
              </a:defRPr>
            </a:lvl7pPr>
            <a:lvl8pPr algn="l">
              <a:defRPr sz="10875">
                <a:solidFill>
                  <a:srgbClr val="EAB64F"/>
                </a:solidFill>
                <a:latin typeface="Georgia"/>
                <a:ea typeface="Georgia"/>
                <a:cs typeface="Georgia"/>
              </a:defRPr>
            </a:lvl8pPr>
            <a:lvl9pPr algn="l">
              <a:defRPr sz="10875">
                <a:solidFill>
                  <a:srgbClr val="EAB64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algn="l">
              <a:defRPr sz="10875">
                <a:solidFill>
                  <a:srgbClr val="EAB64F"/>
                </a:solidFill>
                <a:latin typeface="Georgia"/>
                <a:ea typeface="Georgia"/>
                <a:cs typeface="Georgia"/>
              </a:defRPr>
            </a:pPr>
            <a:r>
              <a:rPr sz="10875">
                <a:solidFill>
                  <a:srgbClr val="EAB64F"/>
                </a:solidFill>
                <a:latin typeface="Georgia"/>
                <a:ea typeface="Georgia"/>
                <a:cs typeface="Georgia"/>
              </a:rPr>
              <a:t>11</a:t>
            </a:r>
          </a:p>
        </p:txBody>
      </p:sp>
      <p:sp>
        <p:nvSpPr>
          <p:cNvPr id="4" name="записей в таблице">
            <a:extLst xmlns:a="http://schemas.openxmlformats.org/drawingml/2006/main">
              <a:ext uri="{FF2B5EF4-FFF2-40B4-BE49-F238E27FC236}">
                <a16:creationId xmlns:a16="http://schemas.microsoft.com/office/drawing/2014/main" id="{3EFC81C0-CC62-4844-BC73-D79893FD9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095750"/>
            <a:ext cx="581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0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defPPr>
            <a:lvl1pPr algn="l">
              <a:defRPr sz="30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1pPr>
            <a:lvl2pPr algn="l">
              <a:defRPr sz="30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2pPr>
            <a:lvl3pPr algn="l">
              <a:defRPr sz="30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3pPr>
            <a:lvl4pPr algn="l">
              <a:defRPr sz="30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4pPr>
            <a:lvl5pPr algn="l">
              <a:defRPr sz="30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5pPr>
            <a:lvl6pPr algn="l">
              <a:defRPr sz="30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6pPr>
            <a:lvl7pPr algn="l">
              <a:defRPr sz="30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7pPr>
            <a:lvl8pPr algn="l">
              <a:defRPr sz="30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8pPr>
            <a:lvl9pPr algn="l">
              <a:defRPr sz="30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algn="l">
              <a:defRPr sz="30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300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записей в таблице</a:t>
            </a:r>
          </a:p>
        </p:txBody>
      </p:sp>
      <p:sp>
        <p:nvSpPr>
          <p:cNvPr id="5" name="3">
            <a:extLst xmlns:a="http://schemas.openxmlformats.org/drawingml/2006/main">
              <a:ext uri="{FF2B5EF4-FFF2-40B4-BE49-F238E27FC236}">
                <a16:creationId xmlns:a16="http://schemas.microsoft.com/office/drawing/2014/main" id="{7B59E0DF-F19C-4022-A0C1-7CB323B50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190750"/>
            <a:ext cx="57150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0875">
                <a:solidFill>
                  <a:srgbClr val="EAB64F"/>
                </a:solidFill>
                <a:latin typeface="Georgia"/>
                <a:ea typeface="Georgia"/>
                <a:cs typeface="Georgia"/>
              </a:defRPr>
            </a:defPPr>
            <a:lvl1pPr algn="l">
              <a:defRPr sz="10875">
                <a:solidFill>
                  <a:srgbClr val="EAB64F"/>
                </a:solidFill>
                <a:latin typeface="Georgia"/>
                <a:ea typeface="Georgia"/>
                <a:cs typeface="Georgia"/>
              </a:defRPr>
            </a:lvl1pPr>
            <a:lvl2pPr algn="l">
              <a:defRPr sz="10875">
                <a:solidFill>
                  <a:srgbClr val="EAB64F"/>
                </a:solidFill>
                <a:latin typeface="Georgia"/>
                <a:ea typeface="Georgia"/>
                <a:cs typeface="Georgia"/>
              </a:defRPr>
            </a:lvl2pPr>
            <a:lvl3pPr algn="l">
              <a:defRPr sz="10875">
                <a:solidFill>
                  <a:srgbClr val="EAB64F"/>
                </a:solidFill>
                <a:latin typeface="Georgia"/>
                <a:ea typeface="Georgia"/>
                <a:cs typeface="Georgia"/>
              </a:defRPr>
            </a:lvl3pPr>
            <a:lvl4pPr algn="l">
              <a:defRPr sz="10875">
                <a:solidFill>
                  <a:srgbClr val="EAB64F"/>
                </a:solidFill>
                <a:latin typeface="Georgia"/>
                <a:ea typeface="Georgia"/>
                <a:cs typeface="Georgia"/>
              </a:defRPr>
            </a:lvl4pPr>
            <a:lvl5pPr algn="l">
              <a:defRPr sz="10875">
                <a:solidFill>
                  <a:srgbClr val="EAB64F"/>
                </a:solidFill>
                <a:latin typeface="Georgia"/>
                <a:ea typeface="Georgia"/>
                <a:cs typeface="Georgia"/>
              </a:defRPr>
            </a:lvl5pPr>
            <a:lvl6pPr algn="l">
              <a:defRPr sz="10875">
                <a:solidFill>
                  <a:srgbClr val="EAB64F"/>
                </a:solidFill>
                <a:latin typeface="Georgia"/>
                <a:ea typeface="Georgia"/>
                <a:cs typeface="Georgia"/>
              </a:defRPr>
            </a:lvl6pPr>
            <a:lvl7pPr algn="l">
              <a:defRPr sz="10875">
                <a:solidFill>
                  <a:srgbClr val="EAB64F"/>
                </a:solidFill>
                <a:latin typeface="Georgia"/>
                <a:ea typeface="Georgia"/>
                <a:cs typeface="Georgia"/>
              </a:defRPr>
            </a:lvl7pPr>
            <a:lvl8pPr algn="l">
              <a:defRPr sz="10875">
                <a:solidFill>
                  <a:srgbClr val="EAB64F"/>
                </a:solidFill>
                <a:latin typeface="Georgia"/>
                <a:ea typeface="Georgia"/>
                <a:cs typeface="Georgia"/>
              </a:defRPr>
            </a:lvl8pPr>
            <a:lvl9pPr algn="l">
              <a:defRPr sz="10875">
                <a:solidFill>
                  <a:srgbClr val="EAB64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algn="l">
              <a:defRPr sz="10875">
                <a:solidFill>
                  <a:srgbClr val="EAB64F"/>
                </a:solidFill>
                <a:latin typeface="Georgia"/>
                <a:ea typeface="Georgia"/>
                <a:cs typeface="Georgia"/>
              </a:defRPr>
            </a:pPr>
            <a:r>
              <a:rPr sz="10875">
                <a:solidFill>
                  <a:srgbClr val="EAB64F"/>
                </a:solidFill>
                <a:latin typeface="Georgia"/>
                <a:ea typeface="Georgia"/>
                <a:cs typeface="Georgia"/>
              </a:rPr>
              <a:t>3</a:t>
            </a:r>
          </a:p>
        </p:txBody>
      </p:sp>
      <p:sp>
        <p:nvSpPr>
          <p:cNvPr id="6" name="generate_lead в отчёте">
            <a:extLst xmlns:a="http://schemas.openxmlformats.org/drawingml/2006/main">
              <a:ext uri="{FF2B5EF4-FFF2-40B4-BE49-F238E27FC236}">
                <a16:creationId xmlns:a16="http://schemas.microsoft.com/office/drawing/2014/main" id="{9411288F-94B8-4C57-964A-0E2F364CE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95750"/>
            <a:ext cx="6000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0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defPPr>
            <a:lvl1pPr algn="l">
              <a:defRPr sz="30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1pPr>
            <a:lvl2pPr algn="l">
              <a:defRPr sz="30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2pPr>
            <a:lvl3pPr algn="l">
              <a:defRPr sz="30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3pPr>
            <a:lvl4pPr algn="l">
              <a:defRPr sz="30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4pPr>
            <a:lvl5pPr algn="l">
              <a:defRPr sz="30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5pPr>
            <a:lvl6pPr algn="l">
              <a:defRPr sz="30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6pPr>
            <a:lvl7pPr algn="l">
              <a:defRPr sz="30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7pPr>
            <a:lvl8pPr algn="l">
              <a:defRPr sz="30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8pPr>
            <a:lvl9pPr algn="l">
              <a:defRPr sz="30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algn="l">
              <a:defRPr sz="30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300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generate_lead в отчёте</a:t>
            </a:r>
          </a:p>
        </p:txBody>
      </p:sp>
      <p:sp>
        <p:nvSpPr>
          <p:cNvPr id="7" name="Последняя проверка 30.10&#10;Включает у">
            <a:extLst xmlns:a="http://schemas.openxmlformats.org/drawingml/2006/main">
              <a:ext uri="{FF2B5EF4-FFF2-40B4-BE49-F238E27FC236}">
                <a16:creationId xmlns:a16="http://schemas.microsoft.com/office/drawing/2014/main" id="{CA7439BA-1F5A-4C73-894E-FAC4A0B7B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238750"/>
            <a:ext cx="6191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400">
                <a:solidFill>
                  <a:srgbClr val="C8D5CC"/>
                </a:solidFill>
                <a:latin typeface="Georgia"/>
                <a:ea typeface="Georgia"/>
                <a:cs typeface="Georgia"/>
              </a:defRPr>
            </a:defPPr>
            <a:lvl1pPr algn="l">
              <a:defRPr sz="2400">
                <a:solidFill>
                  <a:srgbClr val="C8D5CC"/>
                </a:solidFill>
                <a:latin typeface="Georgia"/>
                <a:ea typeface="Georgia"/>
                <a:cs typeface="Georgia"/>
              </a:defRPr>
            </a:lvl1pPr>
            <a:lvl2pPr algn="l">
              <a:defRPr sz="2400">
                <a:solidFill>
                  <a:srgbClr val="C8D5CC"/>
                </a:solidFill>
                <a:latin typeface="Georgia"/>
                <a:ea typeface="Georgia"/>
                <a:cs typeface="Georgia"/>
              </a:defRPr>
            </a:lvl2pPr>
            <a:lvl3pPr algn="l">
              <a:defRPr sz="2400">
                <a:solidFill>
                  <a:srgbClr val="C8D5CC"/>
                </a:solidFill>
                <a:latin typeface="Georgia"/>
                <a:ea typeface="Georgia"/>
                <a:cs typeface="Georgia"/>
              </a:defRPr>
            </a:lvl3pPr>
            <a:lvl4pPr algn="l">
              <a:defRPr sz="2400">
                <a:solidFill>
                  <a:srgbClr val="C8D5CC"/>
                </a:solidFill>
                <a:latin typeface="Georgia"/>
                <a:ea typeface="Georgia"/>
                <a:cs typeface="Georgia"/>
              </a:defRPr>
            </a:lvl4pPr>
            <a:lvl5pPr algn="l">
              <a:defRPr sz="2400">
                <a:solidFill>
                  <a:srgbClr val="C8D5CC"/>
                </a:solidFill>
                <a:latin typeface="Georgia"/>
                <a:ea typeface="Georgia"/>
                <a:cs typeface="Georgia"/>
              </a:defRPr>
            </a:lvl5pPr>
            <a:lvl6pPr algn="l">
              <a:defRPr sz="2400">
                <a:solidFill>
                  <a:srgbClr val="C8D5CC"/>
                </a:solidFill>
                <a:latin typeface="Georgia"/>
                <a:ea typeface="Georgia"/>
                <a:cs typeface="Georgia"/>
              </a:defRPr>
            </a:lvl6pPr>
            <a:lvl7pPr algn="l">
              <a:defRPr sz="2400">
                <a:solidFill>
                  <a:srgbClr val="C8D5CC"/>
                </a:solidFill>
                <a:latin typeface="Georgia"/>
                <a:ea typeface="Georgia"/>
                <a:cs typeface="Georgia"/>
              </a:defRPr>
            </a:lvl7pPr>
            <a:lvl8pPr algn="l">
              <a:defRPr sz="2400">
                <a:solidFill>
                  <a:srgbClr val="C8D5CC"/>
                </a:solidFill>
                <a:latin typeface="Georgia"/>
                <a:ea typeface="Georgia"/>
                <a:cs typeface="Georgia"/>
              </a:defRPr>
            </a:lvl8pPr>
            <a:lvl9pPr algn="l">
              <a:defRPr sz="2400">
                <a:solidFill>
                  <a:srgbClr val="C8D5CC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algn="l">
              <a:defRPr sz="2400">
                <a:solidFill>
                  <a:srgbClr val="C8D5CC"/>
                </a:solidFill>
                <a:latin typeface="Georgia"/>
                <a:ea typeface="Georgia"/>
                <a:cs typeface="Georgia"/>
              </a:defRPr>
            </a:pPr>
            <a:r>
              <a:rPr sz="2400">
                <a:solidFill>
                  <a:srgbClr val="C8D5CC"/>
                </a:solidFill>
                <a:latin typeface="Georgia"/>
                <a:ea typeface="Georgia"/>
                <a:cs typeface="Georgia"/>
              </a:rPr>
              <a:t>Последняя проверка 30.10</a:t>
            </a:r>
          </a:p>
          <a:p xmlns:a="http://schemas.openxmlformats.org/drawingml/2006/main">
            <a:pPr algn="l">
              <a:defRPr sz="2400">
                <a:solidFill>
                  <a:srgbClr val="C8D5CC"/>
                </a:solidFill>
                <a:latin typeface="Georgia"/>
                <a:ea typeface="Georgia"/>
                <a:cs typeface="Georgia"/>
              </a:defRPr>
            </a:pPr>
            <a:r>
              <a:rPr sz="2400">
                <a:solidFill>
                  <a:srgbClr val="C8D5CC"/>
                </a:solidFill>
                <a:latin typeface="Georgia"/>
                <a:ea typeface="Georgia"/>
                <a:cs typeface="Georgia"/>
              </a:rPr>
              <a:t>Включает учебные QA-заявки</a:t>
            </a:r>
          </a:p>
        </p:txBody>
      </p:sp>
      <p:sp>
        <p:nvSpPr>
          <p:cNvPr id="8" name="Обработанный срез 27–30.10&#10;Realtime">
            <a:extLst xmlns:a="http://schemas.openxmlformats.org/drawingml/2006/main">
              <a:ext uri="{FF2B5EF4-FFF2-40B4-BE49-F238E27FC236}">
                <a16:creationId xmlns:a16="http://schemas.microsoft.com/office/drawing/2014/main" id="{016A1763-EB8F-4C5F-921D-196FBBA2B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5238750"/>
            <a:ext cx="6096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400">
                <a:solidFill>
                  <a:srgbClr val="C8D5CC"/>
                </a:solidFill>
                <a:latin typeface="Georgia"/>
                <a:ea typeface="Georgia"/>
                <a:cs typeface="Georgia"/>
              </a:defRPr>
            </a:defPPr>
            <a:lvl1pPr algn="l">
              <a:defRPr sz="2400">
                <a:solidFill>
                  <a:srgbClr val="C8D5CC"/>
                </a:solidFill>
                <a:latin typeface="Georgia"/>
                <a:ea typeface="Georgia"/>
                <a:cs typeface="Georgia"/>
              </a:defRPr>
            </a:lvl1pPr>
            <a:lvl2pPr algn="l">
              <a:defRPr sz="2400">
                <a:solidFill>
                  <a:srgbClr val="C8D5CC"/>
                </a:solidFill>
                <a:latin typeface="Georgia"/>
                <a:ea typeface="Georgia"/>
                <a:cs typeface="Georgia"/>
              </a:defRPr>
            </a:lvl2pPr>
            <a:lvl3pPr algn="l">
              <a:defRPr sz="2400">
                <a:solidFill>
                  <a:srgbClr val="C8D5CC"/>
                </a:solidFill>
                <a:latin typeface="Georgia"/>
                <a:ea typeface="Georgia"/>
                <a:cs typeface="Georgia"/>
              </a:defRPr>
            </a:lvl3pPr>
            <a:lvl4pPr algn="l">
              <a:defRPr sz="2400">
                <a:solidFill>
                  <a:srgbClr val="C8D5CC"/>
                </a:solidFill>
                <a:latin typeface="Georgia"/>
                <a:ea typeface="Georgia"/>
                <a:cs typeface="Georgia"/>
              </a:defRPr>
            </a:lvl4pPr>
            <a:lvl5pPr algn="l">
              <a:defRPr sz="2400">
                <a:solidFill>
                  <a:srgbClr val="C8D5CC"/>
                </a:solidFill>
                <a:latin typeface="Georgia"/>
                <a:ea typeface="Georgia"/>
                <a:cs typeface="Georgia"/>
              </a:defRPr>
            </a:lvl5pPr>
            <a:lvl6pPr algn="l">
              <a:defRPr sz="2400">
                <a:solidFill>
                  <a:srgbClr val="C8D5CC"/>
                </a:solidFill>
                <a:latin typeface="Georgia"/>
                <a:ea typeface="Georgia"/>
                <a:cs typeface="Georgia"/>
              </a:defRPr>
            </a:lvl6pPr>
            <a:lvl7pPr algn="l">
              <a:defRPr sz="2400">
                <a:solidFill>
                  <a:srgbClr val="C8D5CC"/>
                </a:solidFill>
                <a:latin typeface="Georgia"/>
                <a:ea typeface="Georgia"/>
                <a:cs typeface="Georgia"/>
              </a:defRPr>
            </a:lvl7pPr>
            <a:lvl8pPr algn="l">
              <a:defRPr sz="2400">
                <a:solidFill>
                  <a:srgbClr val="C8D5CC"/>
                </a:solidFill>
                <a:latin typeface="Georgia"/>
                <a:ea typeface="Georgia"/>
                <a:cs typeface="Georgia"/>
              </a:defRPr>
            </a:lvl8pPr>
            <a:lvl9pPr algn="l">
              <a:defRPr sz="2400">
                <a:solidFill>
                  <a:srgbClr val="C8D5CC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algn="l">
              <a:defRPr sz="2400">
                <a:solidFill>
                  <a:srgbClr val="C8D5CC"/>
                </a:solidFill>
                <a:latin typeface="Georgia"/>
                <a:ea typeface="Georgia"/>
                <a:cs typeface="Georgia"/>
              </a:defRPr>
            </a:pPr>
            <a:r>
              <a:rPr sz="2400">
                <a:solidFill>
                  <a:srgbClr val="C8D5CC"/>
                </a:solidFill>
                <a:latin typeface="Georgia"/>
                <a:ea typeface="Georgia"/>
                <a:cs typeface="Georgia"/>
              </a:rPr>
              <a:t>Обработанный срез 27–30.10</a:t>
            </a:r>
          </a:p>
          <a:p xmlns:a="http://schemas.openxmlformats.org/drawingml/2006/main">
            <a:pPr algn="l">
              <a:defRPr sz="2400">
                <a:solidFill>
                  <a:srgbClr val="C8D5CC"/>
                </a:solidFill>
                <a:latin typeface="Georgia"/>
                <a:ea typeface="Georgia"/>
                <a:cs typeface="Georgia"/>
              </a:defRPr>
            </a:pPr>
            <a:r>
              <a:rPr sz="2400">
                <a:solidFill>
                  <a:srgbClr val="C8D5CC"/>
                </a:solidFill>
                <a:latin typeface="Georgia"/>
                <a:ea typeface="Georgia"/>
                <a:cs typeface="Georgia"/>
              </a:rPr>
              <a:t>Realtime проверялся отдельно</a:t>
            </a:r>
          </a:p>
        </p:txBody>
      </p:sp>
      <p:sp>
        <p:nvSpPr>
          <p:cNvPr id="9" name="Историческое расхождение сохраняетс">
            <a:extLst xmlns:a="http://schemas.openxmlformats.org/drawingml/2006/main">
              <a:ext uri="{FF2B5EF4-FFF2-40B4-BE49-F238E27FC236}">
                <a16:creationId xmlns:a16="http://schemas.microsoft.com/office/drawing/2014/main" id="{CDC247A2-09F7-4BD0-A644-9EB8508D9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7143750"/>
            <a:ext cx="13239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defPPr>
            <a:lvl1pPr algn="l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1pPr>
            <a:lvl2pPr algn="l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2pPr>
            <a:lvl3pPr algn="l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3pPr>
            <a:lvl4pPr algn="l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4pPr>
            <a:lvl5pPr algn="l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5pPr>
            <a:lvl6pPr algn="l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6pPr>
            <a:lvl7pPr algn="l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7pPr>
            <a:lvl8pPr algn="l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8pPr>
            <a:lvl9pPr algn="l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algn="l">
              <a:defRPr sz="240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40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Историческое расхождение сохраняется. Прошлые события не восстанавливались.</a:t>
            </a:r>
          </a:p>
        </p:txBody>
      </p:sp>
    </p:spTree>
    <p:extLst>
      <p:ext uri="{BB962C8B-B14F-4D97-AF65-F5344CB8AC3E}">
        <p14:creationId xmlns:p14="http://schemas.microsoft.com/office/powerpoint/2010/main" val="155714277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4F6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10">
            <a:extLst xmlns:a="http://schemas.openxmlformats.org/drawingml/2006/main">
              <a:ext uri="{FF2B5EF4-FFF2-40B4-BE49-F238E27FC236}">
                <a16:creationId xmlns:a16="http://schemas.microsoft.com/office/drawing/2014/main" id="{3A6C6ADB-CDF3-4264-A85D-817FE93B4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63625" y="7858125"/>
            <a:ext cx="714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defPPr>
            <a:lvl1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1pPr>
            <a:lvl2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2pPr>
            <a:lvl3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3pPr>
            <a:lvl4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4pPr>
            <a:lvl5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5pPr>
            <a:lvl6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6pPr>
            <a:lvl7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7pPr>
            <a:lvl8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8pPr>
            <a:lvl9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pPr>
            <a:r>
              <a:rPr sz="2025">
                <a:solidFill>
                  <a:srgbClr val="58716A"/>
                </a:solidFill>
                <a:latin typeface="Georgia"/>
                <a:ea typeface="Georgia"/>
                <a:cs typeface="Georgia"/>
              </a:rPr>
              <a:t>10</a:t>
            </a:r>
          </a:p>
        </p:txBody>
      </p:sp>
      <p:sp>
        <p:nvSpPr>
          <p:cNvPr id="2" name="Что получил турклуб">
            <a:extLst xmlns:a="http://schemas.openxmlformats.org/drawingml/2006/main">
              <a:ext uri="{FF2B5EF4-FFF2-40B4-BE49-F238E27FC236}">
                <a16:creationId xmlns:a16="http://schemas.microsoft.com/office/drawing/2014/main" id="{BB13B477-5C60-486A-A05A-A7FC9394B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3620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defPPr>
            <a:lvl1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1pPr>
            <a:lvl2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2pPr>
            <a:lvl3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3pPr>
            <a:lvl4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4pPr>
            <a:lvl5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5pPr>
            <a:lvl6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6pPr>
            <a:lvl7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7pPr>
            <a:lvl8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8pPr>
            <a:lvl9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pPr>
            <a:r>
              <a:rPr sz="4650">
                <a:solidFill>
                  <a:srgbClr val="193B39"/>
                </a:solidFill>
                <a:latin typeface="Georgia"/>
                <a:ea typeface="Georgia"/>
                <a:cs typeface="Georgia"/>
              </a:rPr>
              <a:t>Что получил турклуб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FA0044-EDF2-4037-925C-756C655CB7B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267ef8fc4b429a"/>
          <a:srcRect xmlns:a="http://schemas.openxmlformats.org/drawingml/2006/main" l="31424" t="0" r="3142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144125" y="0"/>
            <a:ext cx="5095875" cy="8572500"/>
          </a:xfrm>
          <a:prstGeom xmlns:a="http://schemas.openxmlformats.org/drawingml/2006/main" prst="rect">
            <a:avLst/>
          </a:prstGeom>
        </p:spPr>
      </p:pic>
      <p:sp>
        <p:nvSpPr>
          <p:cNvPr id="4" name="Выбор даты">
            <a:extLst xmlns:a="http://schemas.openxmlformats.org/drawingml/2006/main">
              <a:ext uri="{FF2B5EF4-FFF2-40B4-BE49-F238E27FC236}">
                <a16:creationId xmlns:a16="http://schemas.microsoft.com/office/drawing/2014/main" id="{A9979771-8714-4CC6-B305-382DAF235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857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4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defPPr>
            <a:lvl1pPr algn="l">
              <a:defRPr sz="34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1pPr>
            <a:lvl2pPr algn="l">
              <a:defRPr sz="34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2pPr>
            <a:lvl3pPr algn="l">
              <a:defRPr sz="34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3pPr>
            <a:lvl4pPr algn="l">
              <a:defRPr sz="34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4pPr>
            <a:lvl5pPr algn="l">
              <a:defRPr sz="34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5pPr>
            <a:lvl6pPr algn="l">
              <a:defRPr sz="34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6pPr>
            <a:lvl7pPr algn="l">
              <a:defRPr sz="34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7pPr>
            <a:lvl8pPr algn="l">
              <a:defRPr sz="34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8pPr>
            <a:lvl9pPr algn="l">
              <a:defRPr sz="34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algn="l">
              <a:defRPr sz="34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pPr>
            <a:r>
              <a:rPr sz="3450">
                <a:solidFill>
                  <a:srgbClr val="193B39"/>
                </a:solidFill>
                <a:latin typeface="Georgia"/>
                <a:ea typeface="Georgia"/>
                <a:cs typeface="Georgia"/>
              </a:rPr>
              <a:t>Выбор даты</a:t>
            </a:r>
          </a:p>
        </p:txBody>
      </p:sp>
      <p:sp>
        <p:nvSpPr>
          <p:cNvPr id="5" name="Календарь выездов и сведения о мест">
            <a:extLst xmlns:a="http://schemas.openxmlformats.org/drawingml/2006/main">
              <a:ext uri="{FF2B5EF4-FFF2-40B4-BE49-F238E27FC236}">
                <a16:creationId xmlns:a16="http://schemas.microsoft.com/office/drawing/2014/main" id="{75EE4CEF-45CB-443E-BE1A-F03DA18E0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05125"/>
            <a:ext cx="8572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40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defPPr>
            <a:lvl1pPr algn="l">
              <a:defRPr sz="240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1pPr>
            <a:lvl2pPr algn="l">
              <a:defRPr sz="240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2pPr>
            <a:lvl3pPr algn="l">
              <a:defRPr sz="240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3pPr>
            <a:lvl4pPr algn="l">
              <a:defRPr sz="240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4pPr>
            <a:lvl5pPr algn="l">
              <a:defRPr sz="240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5pPr>
            <a:lvl6pPr algn="l">
              <a:defRPr sz="240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6pPr>
            <a:lvl7pPr algn="l">
              <a:defRPr sz="240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7pPr>
            <a:lvl8pPr algn="l">
              <a:defRPr sz="240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8pPr>
            <a:lvl9pPr algn="l">
              <a:defRPr sz="240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algn="l">
              <a:defRPr sz="240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pPr>
            <a:r>
              <a:rPr sz="2400">
                <a:solidFill>
                  <a:srgbClr val="58716A"/>
                </a:solidFill>
                <a:latin typeface="Georgia"/>
                <a:ea typeface="Georgia"/>
                <a:cs typeface="Georgia"/>
              </a:rPr>
              <a:t>Календарь выездов и сведения о местах</a:t>
            </a:r>
          </a:p>
        </p:txBody>
      </p:sp>
      <p:sp>
        <p:nvSpPr>
          <p:cNvPr id="6" name="Учёт обращений">
            <a:extLst xmlns:a="http://schemas.openxmlformats.org/drawingml/2006/main">
              <a:ext uri="{FF2B5EF4-FFF2-40B4-BE49-F238E27FC236}">
                <a16:creationId xmlns:a16="http://schemas.microsoft.com/office/drawing/2014/main" id="{932403A8-5CD4-4634-8CB3-6CCF747DD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91000"/>
            <a:ext cx="857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4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defPPr>
            <a:lvl1pPr algn="l">
              <a:defRPr sz="34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1pPr>
            <a:lvl2pPr algn="l">
              <a:defRPr sz="34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2pPr>
            <a:lvl3pPr algn="l">
              <a:defRPr sz="34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3pPr>
            <a:lvl4pPr algn="l">
              <a:defRPr sz="34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4pPr>
            <a:lvl5pPr algn="l">
              <a:defRPr sz="34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5pPr>
            <a:lvl6pPr algn="l">
              <a:defRPr sz="34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6pPr>
            <a:lvl7pPr algn="l">
              <a:defRPr sz="34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7pPr>
            <a:lvl8pPr algn="l">
              <a:defRPr sz="34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8pPr>
            <a:lvl9pPr algn="l">
              <a:defRPr sz="34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algn="l">
              <a:defRPr sz="34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pPr>
            <a:r>
              <a:rPr sz="3450">
                <a:solidFill>
                  <a:srgbClr val="193B39"/>
                </a:solidFill>
                <a:latin typeface="Georgia"/>
                <a:ea typeface="Georgia"/>
                <a:cs typeface="Georgia"/>
              </a:rPr>
              <a:t>Учёт обращений</a:t>
            </a:r>
          </a:p>
        </p:txBody>
      </p:sp>
      <p:sp>
        <p:nvSpPr>
          <p:cNvPr id="7" name="Маршрут, дата, участники, UTM и ста">
            <a:extLst xmlns:a="http://schemas.openxmlformats.org/drawingml/2006/main">
              <a:ext uri="{FF2B5EF4-FFF2-40B4-BE49-F238E27FC236}">
                <a16:creationId xmlns:a16="http://schemas.microsoft.com/office/drawing/2014/main" id="{B73C659D-62FA-4AF6-AE57-62A86DE6F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00625"/>
            <a:ext cx="8667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40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defPPr>
            <a:lvl1pPr algn="l">
              <a:defRPr sz="240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1pPr>
            <a:lvl2pPr algn="l">
              <a:defRPr sz="240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2pPr>
            <a:lvl3pPr algn="l">
              <a:defRPr sz="240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3pPr>
            <a:lvl4pPr algn="l">
              <a:defRPr sz="240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4pPr>
            <a:lvl5pPr algn="l">
              <a:defRPr sz="240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5pPr>
            <a:lvl6pPr algn="l">
              <a:defRPr sz="240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6pPr>
            <a:lvl7pPr algn="l">
              <a:defRPr sz="240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7pPr>
            <a:lvl8pPr algn="l">
              <a:defRPr sz="240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8pPr>
            <a:lvl9pPr algn="l">
              <a:defRPr sz="240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algn="l">
              <a:defRPr sz="240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pPr>
            <a:r>
              <a:rPr sz="2400">
                <a:solidFill>
                  <a:srgbClr val="58716A"/>
                </a:solidFill>
                <a:latin typeface="Georgia"/>
                <a:ea typeface="Georgia"/>
                <a:cs typeface="Georgia"/>
              </a:rPr>
              <a:t>Маршрут, дата, участники, UTM и статус</a:t>
            </a:r>
          </a:p>
          <a:p xmlns:a="http://schemas.openxmlformats.org/drawingml/2006/main">
            <a:pPr algn="l">
              <a:defRPr sz="240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pPr>
            <a:r>
              <a:rPr sz="2400">
                <a:solidFill>
                  <a:srgbClr val="58716A"/>
                </a:solidFill>
                <a:latin typeface="Georgia"/>
                <a:ea typeface="Georgia"/>
                <a:cs typeface="Georgia"/>
              </a:rPr>
              <a:t>сохраняются в одной таблице</a:t>
            </a:r>
          </a:p>
        </p:txBody>
      </p:sp>
      <p:sp>
        <p:nvSpPr>
          <p:cNvPr id="8" name="Подготовка новичка">
            <a:extLst xmlns:a="http://schemas.openxmlformats.org/drawingml/2006/main">
              <a:ext uri="{FF2B5EF4-FFF2-40B4-BE49-F238E27FC236}">
                <a16:creationId xmlns:a16="http://schemas.microsoft.com/office/drawing/2014/main" id="{C655717C-F1C0-49B8-B50E-7BBDD2B2C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572250"/>
            <a:ext cx="876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4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defPPr>
            <a:lvl1pPr algn="l">
              <a:defRPr sz="34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1pPr>
            <a:lvl2pPr algn="l">
              <a:defRPr sz="34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2pPr>
            <a:lvl3pPr algn="l">
              <a:defRPr sz="34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3pPr>
            <a:lvl4pPr algn="l">
              <a:defRPr sz="34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4pPr>
            <a:lvl5pPr algn="l">
              <a:defRPr sz="34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5pPr>
            <a:lvl6pPr algn="l">
              <a:defRPr sz="34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6pPr>
            <a:lvl7pPr algn="l">
              <a:defRPr sz="34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7pPr>
            <a:lvl8pPr algn="l">
              <a:defRPr sz="34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8pPr>
            <a:lvl9pPr algn="l">
              <a:defRPr sz="34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algn="l">
              <a:defRPr sz="34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pPr>
            <a:r>
              <a:rPr sz="3450">
                <a:solidFill>
                  <a:srgbClr val="193B39"/>
                </a:solidFill>
                <a:latin typeface="Georgia"/>
                <a:ea typeface="Georgia"/>
                <a:cs typeface="Georgia"/>
              </a:rPr>
              <a:t>Подготовка новичка</a:t>
            </a:r>
          </a:p>
        </p:txBody>
      </p:sp>
      <p:sp>
        <p:nvSpPr>
          <p:cNvPr id="9" name="Чек-лист и расчёт аренды доступны н">
            <a:extLst xmlns:a="http://schemas.openxmlformats.org/drawingml/2006/main">
              <a:ext uri="{FF2B5EF4-FFF2-40B4-BE49-F238E27FC236}">
                <a16:creationId xmlns:a16="http://schemas.microsoft.com/office/drawing/2014/main" id="{2673D52F-CD8E-46AF-93A5-F93F598DF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381875"/>
            <a:ext cx="8763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25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defPPr>
            <a:lvl1pPr algn="l">
              <a:defRPr sz="225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1pPr>
            <a:lvl2pPr algn="l">
              <a:defRPr sz="225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2pPr>
            <a:lvl3pPr algn="l">
              <a:defRPr sz="225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3pPr>
            <a:lvl4pPr algn="l">
              <a:defRPr sz="225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4pPr>
            <a:lvl5pPr algn="l">
              <a:defRPr sz="225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5pPr>
            <a:lvl6pPr algn="l">
              <a:defRPr sz="225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6pPr>
            <a:lvl7pPr algn="l">
              <a:defRPr sz="225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7pPr>
            <a:lvl8pPr algn="l">
              <a:defRPr sz="225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8pPr>
            <a:lvl9pPr algn="l">
              <a:defRPr sz="225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algn="l">
              <a:defRPr sz="225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pPr>
            <a:r>
              <a:rPr sz="2250">
                <a:solidFill>
                  <a:srgbClr val="58716A"/>
                </a:solidFill>
                <a:latin typeface="Georgia"/>
                <a:ea typeface="Georgia"/>
                <a:cs typeface="Georgia"/>
              </a:rPr>
              <a:t>Чек-лист и расчёт аренды доступны на сайте</a:t>
            </a:r>
          </a:p>
        </p:txBody>
      </p:sp>
      <p:sp>
        <p:nvSpPr>
          <p:cNvPr id="10" name="10">
            <a:extLst xmlns:a="http://schemas.openxmlformats.org/drawingml/2006/main">
              <a:ext uri="{FF2B5EF4-FFF2-40B4-BE49-F238E27FC236}">
                <a16:creationId xmlns:a16="http://schemas.microsoft.com/office/drawing/2014/main" id="{3BEA713F-B433-4FCE-BDA1-6F6F1EC8C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63625" y="7858125"/>
            <a:ext cx="714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2025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defPPr>
            <a:lvl1pPr algn="r">
              <a:defRPr sz="2025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1pPr>
            <a:lvl2pPr algn="r">
              <a:defRPr sz="2025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2pPr>
            <a:lvl3pPr algn="r">
              <a:defRPr sz="2025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3pPr>
            <a:lvl4pPr algn="r">
              <a:defRPr sz="2025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4pPr>
            <a:lvl5pPr algn="r">
              <a:defRPr sz="2025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5pPr>
            <a:lvl6pPr algn="r">
              <a:defRPr sz="2025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6pPr>
            <a:lvl7pPr algn="r">
              <a:defRPr sz="2025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7pPr>
            <a:lvl8pPr algn="r">
              <a:defRPr sz="2025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8pPr>
            <a:lvl9pPr algn="r">
              <a:defRPr sz="2025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algn="r">
              <a:defRPr sz="2025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025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89406554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4F6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11">
            <a:extLst xmlns:a="http://schemas.openxmlformats.org/drawingml/2006/main">
              <a:ext uri="{FF2B5EF4-FFF2-40B4-BE49-F238E27FC236}">
                <a16:creationId xmlns:a16="http://schemas.microsoft.com/office/drawing/2014/main" id="{B1CEDF7C-14D7-4345-982F-A078038B2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63625" y="7858125"/>
            <a:ext cx="714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defPPr>
            <a:lvl1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1pPr>
            <a:lvl2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2pPr>
            <a:lvl3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3pPr>
            <a:lvl4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4pPr>
            <a:lvl5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5pPr>
            <a:lvl6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6pPr>
            <a:lvl7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7pPr>
            <a:lvl8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8pPr>
            <a:lvl9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algn="r">
              <a:defRPr sz="2025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pPr>
            <a:r>
              <a:rPr sz="2025">
                <a:solidFill>
                  <a:srgbClr val="58716A"/>
                </a:solidFill>
                <a:latin typeface="Georgia"/>
                <a:ea typeface="Georgia"/>
                <a:cs typeface="Georgia"/>
              </a:rPr>
              <a:t>11</a:t>
            </a:r>
          </a:p>
        </p:txBody>
      </p:sp>
      <p:sp>
        <p:nvSpPr>
          <p:cNvPr id="2" name="Разработка и ограничения">
            <a:extLst xmlns:a="http://schemas.openxmlformats.org/drawingml/2006/main">
              <a:ext uri="{FF2B5EF4-FFF2-40B4-BE49-F238E27FC236}">
                <a16:creationId xmlns:a16="http://schemas.microsoft.com/office/drawing/2014/main" id="{D45C3610-5B60-4C7E-A3AB-52A151605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3620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defPPr>
            <a:lvl1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1pPr>
            <a:lvl2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2pPr>
            <a:lvl3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3pPr>
            <a:lvl4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4pPr>
            <a:lvl5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5pPr>
            <a:lvl6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6pPr>
            <a:lvl7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7pPr>
            <a:lvl8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8pPr>
            <a:lvl9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algn="l">
              <a:defRPr sz="465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pPr>
            <a:r>
              <a:rPr sz="4650">
                <a:solidFill>
                  <a:srgbClr val="193B39"/>
                </a:solidFill>
                <a:latin typeface="Georgia"/>
                <a:ea typeface="Georgia"/>
                <a:cs typeface="Georgia"/>
              </a:rPr>
              <a:t>Разработка и ограничения</a:t>
            </a:r>
          </a:p>
        </p:txBody>
      </p:sp>
      <p:sp>
        <p:nvSpPr>
          <p:cNvPr id="3" name="Как использовал ИИ">
            <a:extLst xmlns:a="http://schemas.openxmlformats.org/drawingml/2006/main">
              <a:ext uri="{FF2B5EF4-FFF2-40B4-BE49-F238E27FC236}">
                <a16:creationId xmlns:a16="http://schemas.microsoft.com/office/drawing/2014/main" id="{9C25C643-06BB-494C-A690-FFA943AFA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6572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375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defPPr>
            <a:lvl1pPr algn="l">
              <a:defRPr sz="3375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1pPr>
            <a:lvl2pPr algn="l">
              <a:defRPr sz="3375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2pPr>
            <a:lvl3pPr algn="l">
              <a:defRPr sz="3375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3pPr>
            <a:lvl4pPr algn="l">
              <a:defRPr sz="3375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4pPr>
            <a:lvl5pPr algn="l">
              <a:defRPr sz="3375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5pPr>
            <a:lvl6pPr algn="l">
              <a:defRPr sz="3375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6pPr>
            <a:lvl7pPr algn="l">
              <a:defRPr sz="3375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7pPr>
            <a:lvl8pPr algn="l">
              <a:defRPr sz="3375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8pPr>
            <a:lvl9pPr algn="l">
              <a:defRPr sz="3375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algn="l">
              <a:defRPr sz="3375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pPr>
            <a:r>
              <a:rPr sz="3375">
                <a:solidFill>
                  <a:srgbClr val="193B39"/>
                </a:solidFill>
                <a:latin typeface="Georgia"/>
                <a:ea typeface="Georgia"/>
                <a:cs typeface="Georgia"/>
              </a:rPr>
              <a:t>Как использовал ИИ</a:t>
            </a:r>
          </a:p>
        </p:txBody>
      </p:sp>
      <p:sp>
        <p:nvSpPr>
          <p:cNvPr id="4" name="Вёрстка и дизайн&#10;JavaScript и Apps ">
            <a:extLst xmlns:a="http://schemas.openxmlformats.org/drawingml/2006/main">
              <a:ext uri="{FF2B5EF4-FFF2-40B4-BE49-F238E27FC236}">
                <a16:creationId xmlns:a16="http://schemas.microsoft.com/office/drawing/2014/main" id="{BD8461D2-535E-4422-BFD1-8A4062F82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65722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7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defPPr>
            <a:lvl1pPr algn="l">
              <a:defRPr sz="27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1pPr>
            <a:lvl2pPr algn="l">
              <a:defRPr sz="27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2pPr>
            <a:lvl3pPr algn="l">
              <a:defRPr sz="27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3pPr>
            <a:lvl4pPr algn="l">
              <a:defRPr sz="27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4pPr>
            <a:lvl5pPr algn="l">
              <a:defRPr sz="27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5pPr>
            <a:lvl6pPr algn="l">
              <a:defRPr sz="27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6pPr>
            <a:lvl7pPr algn="l">
              <a:defRPr sz="27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7pPr>
            <a:lvl8pPr algn="l">
              <a:defRPr sz="27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8pPr>
            <a:lvl9pPr algn="l">
              <a:defRPr sz="27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algn="l">
              <a:defRPr sz="27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pPr>
            <a:r>
              <a:rPr sz="2700">
                <a:solidFill>
                  <a:srgbClr val="193B39"/>
                </a:solidFill>
                <a:latin typeface="Georgia"/>
                <a:ea typeface="Georgia"/>
                <a:cs typeface="Georgia"/>
              </a:rPr>
              <a:t>Вёрстка и дизайн</a:t>
            </a:r>
          </a:p>
          <a:p xmlns:a="http://schemas.openxmlformats.org/drawingml/2006/main">
            <a:pPr algn="l">
              <a:defRPr sz="27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pPr>
            <a:r>
              <a:rPr sz="2700">
                <a:solidFill>
                  <a:srgbClr val="193B39"/>
                </a:solidFill>
                <a:latin typeface="Georgia"/>
                <a:ea typeface="Georgia"/>
                <a:cs typeface="Georgia"/>
              </a:rPr>
              <a:t>JavaScript и Apps Script</a:t>
            </a:r>
          </a:p>
          <a:p xmlns:a="http://schemas.openxmlformats.org/drawingml/2006/main">
            <a:pPr algn="l">
              <a:defRPr sz="27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pPr>
            <a:r>
              <a:rPr sz="2700">
                <a:solidFill>
                  <a:srgbClr val="193B39"/>
                </a:solidFill>
                <a:latin typeface="Georgia"/>
                <a:ea typeface="Georgia"/>
                <a:cs typeface="Georgia"/>
              </a:rPr>
              <a:t>Формулы и документация</a:t>
            </a:r>
          </a:p>
        </p:txBody>
      </p:sp>
      <p:sp>
        <p:nvSpPr>
          <p:cNvPr id="5" name="Что пришлось исправить">
            <a:extLst xmlns:a="http://schemas.openxmlformats.org/drawingml/2006/main">
              <a:ext uri="{FF2B5EF4-FFF2-40B4-BE49-F238E27FC236}">
                <a16:creationId xmlns:a16="http://schemas.microsoft.com/office/drawing/2014/main" id="{E8CDDA1F-E8EE-45E4-92EC-B3975C5B8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95500"/>
            <a:ext cx="6286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375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defPPr>
            <a:lvl1pPr algn="l">
              <a:defRPr sz="3375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1pPr>
            <a:lvl2pPr algn="l">
              <a:defRPr sz="3375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2pPr>
            <a:lvl3pPr algn="l">
              <a:defRPr sz="3375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3pPr>
            <a:lvl4pPr algn="l">
              <a:defRPr sz="3375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4pPr>
            <a:lvl5pPr algn="l">
              <a:defRPr sz="3375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5pPr>
            <a:lvl6pPr algn="l">
              <a:defRPr sz="3375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6pPr>
            <a:lvl7pPr algn="l">
              <a:defRPr sz="3375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7pPr>
            <a:lvl8pPr algn="l">
              <a:defRPr sz="3375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8pPr>
            <a:lvl9pPr algn="l">
              <a:defRPr sz="3375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algn="l">
              <a:defRPr sz="3375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pPr>
            <a:r>
              <a:rPr sz="3375">
                <a:solidFill>
                  <a:srgbClr val="193B39"/>
                </a:solidFill>
                <a:latin typeface="Georgia"/>
                <a:ea typeface="Georgia"/>
                <a:cs typeface="Georgia"/>
              </a:rPr>
              <a:t>Что пришлось исправить</a:t>
            </a:r>
          </a:p>
        </p:txBody>
      </p:sp>
      <p:sp>
        <p:nvSpPr>
          <p:cNvPr id="6" name="Формат телефона +7&#10;Нативный form_su">
            <a:extLst xmlns:a="http://schemas.openxmlformats.org/drawingml/2006/main">
              <a:ext uri="{FF2B5EF4-FFF2-40B4-BE49-F238E27FC236}">
                <a16:creationId xmlns:a16="http://schemas.microsoft.com/office/drawing/2014/main" id="{65EE9010-413F-489A-AE87-D7982177E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86125"/>
            <a:ext cx="6286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7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defPPr>
            <a:lvl1pPr algn="l">
              <a:defRPr sz="27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1pPr>
            <a:lvl2pPr algn="l">
              <a:defRPr sz="27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2pPr>
            <a:lvl3pPr algn="l">
              <a:defRPr sz="27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3pPr>
            <a:lvl4pPr algn="l">
              <a:defRPr sz="27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4pPr>
            <a:lvl5pPr algn="l">
              <a:defRPr sz="27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5pPr>
            <a:lvl6pPr algn="l">
              <a:defRPr sz="27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6pPr>
            <a:lvl7pPr algn="l">
              <a:defRPr sz="27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7pPr>
            <a:lvl8pPr algn="l">
              <a:defRPr sz="27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8pPr>
            <a:lvl9pPr algn="l">
              <a:defRPr sz="27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algn="l">
              <a:defRPr sz="27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pPr>
            <a:r>
              <a:rPr sz="2700">
                <a:solidFill>
                  <a:srgbClr val="193B39"/>
                </a:solidFill>
                <a:latin typeface="Georgia"/>
                <a:ea typeface="Georgia"/>
                <a:cs typeface="Georgia"/>
              </a:rPr>
              <a:t>Формат телефона +7</a:t>
            </a:r>
          </a:p>
          <a:p xmlns:a="http://schemas.openxmlformats.org/drawingml/2006/main">
            <a:pPr algn="l">
              <a:defRPr sz="27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pPr>
            <a:r>
              <a:rPr sz="2700">
                <a:solidFill>
                  <a:srgbClr val="193B39"/>
                </a:solidFill>
                <a:latin typeface="Georgia"/>
                <a:ea typeface="Georgia"/>
                <a:cs typeface="Georgia"/>
              </a:rPr>
              <a:t>Нативный form_submit</a:t>
            </a:r>
          </a:p>
          <a:p xmlns:a="http://schemas.openxmlformats.org/drawingml/2006/main">
            <a:pPr algn="l">
              <a:defRPr sz="2700">
                <a:solidFill>
                  <a:srgbClr val="193B39"/>
                </a:solidFill>
                <a:latin typeface="Georgia"/>
                <a:ea typeface="Georgia"/>
                <a:cs typeface="Georgia"/>
              </a:defRPr>
            </a:pPr>
            <a:r>
              <a:rPr sz="2700">
                <a:solidFill>
                  <a:srgbClr val="193B39"/>
                </a:solidFill>
                <a:latin typeface="Georgia"/>
                <a:ea typeface="Georgia"/>
                <a:cs typeface="Georgia"/>
              </a:rPr>
              <a:t>Переход после отправки события</a:t>
            </a:r>
          </a:p>
        </p:txBody>
      </p:sp>
      <p:sp>
        <p:nvSpPr>
          <p:cNvPr id="7" name="Не завершено: точное оповещение по ">
            <a:extLst xmlns:a="http://schemas.openxmlformats.org/drawingml/2006/main">
              <a:ext uri="{FF2B5EF4-FFF2-40B4-BE49-F238E27FC236}">
                <a16:creationId xmlns:a16="http://schemas.microsoft.com/office/drawing/2014/main" id="{DBA63592-2FC4-4EF9-9C5D-9427C87BF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429375"/>
            <a:ext cx="137160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40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defPPr>
            <a:lvl1pPr algn="l">
              <a:defRPr sz="240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1pPr>
            <a:lvl2pPr algn="l">
              <a:defRPr sz="240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2pPr>
            <a:lvl3pPr algn="l">
              <a:defRPr sz="240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3pPr>
            <a:lvl4pPr algn="l">
              <a:defRPr sz="240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4pPr>
            <a:lvl5pPr algn="l">
              <a:defRPr sz="240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5pPr>
            <a:lvl6pPr algn="l">
              <a:defRPr sz="240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6pPr>
            <a:lvl7pPr algn="l">
              <a:defRPr sz="240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7pPr>
            <a:lvl8pPr algn="l">
              <a:defRPr sz="240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8pPr>
            <a:lvl9pPr algn="l">
              <a:defRPr sz="240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algn="l">
              <a:defRPr sz="240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pPr>
            <a:r>
              <a:rPr sz="2400">
                <a:solidFill>
                  <a:srgbClr val="58716A"/>
                </a:solidFill>
                <a:latin typeface="Georgia"/>
                <a:ea typeface="Georgia"/>
                <a:cs typeface="Georgia"/>
              </a:rPr>
              <a:t>Не завершено: точное оповещение по Session source.</a:t>
            </a:r>
          </a:p>
          <a:p xmlns:a="http://schemas.openxmlformats.org/drawingml/2006/main">
            <a:pPr algn="l">
              <a:defRPr sz="2400">
                <a:solidFill>
                  <a:srgbClr val="58716A"/>
                </a:solidFill>
                <a:latin typeface="Georgia"/>
                <a:ea typeface="Georgia"/>
                <a:cs typeface="Georgia"/>
              </a:defRPr>
            </a:pPr>
            <a:r>
              <a:rPr sz="2400">
                <a:solidFill>
                  <a:srgbClr val="58716A"/>
                </a:solidFill>
                <a:latin typeface="Georgia"/>
                <a:ea typeface="Georgia"/>
                <a:cs typeface="Georgia"/>
              </a:rPr>
              <a:t>Параметр отсутствует в доступном конструкторе GA4.</a:t>
            </a:r>
          </a:p>
        </p:txBody>
      </p:sp>
    </p:spTree>
    <p:extLst>
      <p:ext uri="{BB962C8B-B14F-4D97-AF65-F5344CB8AC3E}">
        <p14:creationId xmlns:p14="http://schemas.microsoft.com/office/powerpoint/2010/main" val="90414175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93B3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12">
            <a:extLst xmlns:a="http://schemas.openxmlformats.org/drawingml/2006/main">
              <a:ext uri="{FF2B5EF4-FFF2-40B4-BE49-F238E27FC236}">
                <a16:creationId xmlns:a16="http://schemas.microsoft.com/office/drawing/2014/main" id="{842784B5-ED07-4F9E-B4D2-F1E4837B3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63625" y="7858125"/>
            <a:ext cx="714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2025">
                <a:solidFill>
                  <a:srgbClr val="C8D5CC"/>
                </a:solidFill>
                <a:latin typeface="Georgia"/>
                <a:ea typeface="Georgia"/>
                <a:cs typeface="Georgia"/>
              </a:defRPr>
            </a:defPPr>
            <a:lvl1pPr algn="r">
              <a:defRPr sz="2025">
                <a:solidFill>
                  <a:srgbClr val="C8D5CC"/>
                </a:solidFill>
                <a:latin typeface="Georgia"/>
                <a:ea typeface="Georgia"/>
                <a:cs typeface="Georgia"/>
              </a:defRPr>
            </a:lvl1pPr>
            <a:lvl2pPr algn="r">
              <a:defRPr sz="2025">
                <a:solidFill>
                  <a:srgbClr val="C8D5CC"/>
                </a:solidFill>
                <a:latin typeface="Georgia"/>
                <a:ea typeface="Georgia"/>
                <a:cs typeface="Georgia"/>
              </a:defRPr>
            </a:lvl2pPr>
            <a:lvl3pPr algn="r">
              <a:defRPr sz="2025">
                <a:solidFill>
                  <a:srgbClr val="C8D5CC"/>
                </a:solidFill>
                <a:latin typeface="Georgia"/>
                <a:ea typeface="Georgia"/>
                <a:cs typeface="Georgia"/>
              </a:defRPr>
            </a:lvl3pPr>
            <a:lvl4pPr algn="r">
              <a:defRPr sz="2025">
                <a:solidFill>
                  <a:srgbClr val="C8D5CC"/>
                </a:solidFill>
                <a:latin typeface="Georgia"/>
                <a:ea typeface="Georgia"/>
                <a:cs typeface="Georgia"/>
              </a:defRPr>
            </a:lvl4pPr>
            <a:lvl5pPr algn="r">
              <a:defRPr sz="2025">
                <a:solidFill>
                  <a:srgbClr val="C8D5CC"/>
                </a:solidFill>
                <a:latin typeface="Georgia"/>
                <a:ea typeface="Georgia"/>
                <a:cs typeface="Georgia"/>
              </a:defRPr>
            </a:lvl5pPr>
            <a:lvl6pPr algn="r">
              <a:defRPr sz="2025">
                <a:solidFill>
                  <a:srgbClr val="C8D5CC"/>
                </a:solidFill>
                <a:latin typeface="Georgia"/>
                <a:ea typeface="Georgia"/>
                <a:cs typeface="Georgia"/>
              </a:defRPr>
            </a:lvl6pPr>
            <a:lvl7pPr algn="r">
              <a:defRPr sz="2025">
                <a:solidFill>
                  <a:srgbClr val="C8D5CC"/>
                </a:solidFill>
                <a:latin typeface="Georgia"/>
                <a:ea typeface="Georgia"/>
                <a:cs typeface="Georgia"/>
              </a:defRPr>
            </a:lvl7pPr>
            <a:lvl8pPr algn="r">
              <a:defRPr sz="2025">
                <a:solidFill>
                  <a:srgbClr val="C8D5CC"/>
                </a:solidFill>
                <a:latin typeface="Georgia"/>
                <a:ea typeface="Georgia"/>
                <a:cs typeface="Georgia"/>
              </a:defRPr>
            </a:lvl8pPr>
            <a:lvl9pPr algn="r">
              <a:defRPr sz="2025">
                <a:solidFill>
                  <a:srgbClr val="C8D5CC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algn="r">
              <a:defRPr sz="2025">
                <a:solidFill>
                  <a:srgbClr val="C8D5CC"/>
                </a:solidFill>
                <a:latin typeface="Georgia"/>
                <a:ea typeface="Georgia"/>
                <a:cs typeface="Georgia"/>
              </a:defRPr>
            </a:pPr>
            <a:r>
              <a:rPr sz="2025">
                <a:solidFill>
                  <a:srgbClr val="C8D5CC"/>
                </a:solidFill>
                <a:latin typeface="Georgia"/>
                <a:ea typeface="Georgia"/>
                <a:cs typeface="Georgia"/>
              </a:rPr>
              <a:t>12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5DFAAB-BBCC-4456-B14C-24E65887FF1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13cd9c64504d77"/>
          <a:stretch xmlns:a="http://schemas.openxmlformats.org/drawingml/2006/main"/>
        </p:blipFill>
        <p:spPr>
          <a:xfrm xmlns:a="http://schemas.openxmlformats.org/drawingml/2006/main">
            <a:off x="685800" y="526428"/>
            <a:ext cx="3190875" cy="814043"/>
          </a:xfrm>
          <a:prstGeom xmlns:a="http://schemas.openxmlformats.org/drawingml/2006/main" prst="rect">
            <a:avLst/>
          </a:prstGeom>
        </p:spPr>
      </p:pic>
      <p:sp>
        <p:nvSpPr>
          <p:cNvPr id="3" name="До встречи&#10;на тропе">
            <a:extLst xmlns:a="http://schemas.openxmlformats.org/drawingml/2006/main">
              <a:ext uri="{FF2B5EF4-FFF2-40B4-BE49-F238E27FC236}">
                <a16:creationId xmlns:a16="http://schemas.microsoft.com/office/drawing/2014/main" id="{7F4B5827-448E-4ACF-8FB5-DDE9A26C5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81250"/>
            <a:ext cx="8572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675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defPPr>
            <a:lvl1pPr algn="l">
              <a:defRPr sz="675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1pPr>
            <a:lvl2pPr algn="l">
              <a:defRPr sz="675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2pPr>
            <a:lvl3pPr algn="l">
              <a:defRPr sz="675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3pPr>
            <a:lvl4pPr algn="l">
              <a:defRPr sz="675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4pPr>
            <a:lvl5pPr algn="l">
              <a:defRPr sz="675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5pPr>
            <a:lvl6pPr algn="l">
              <a:defRPr sz="675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6pPr>
            <a:lvl7pPr algn="l">
              <a:defRPr sz="675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7pPr>
            <a:lvl8pPr algn="l">
              <a:defRPr sz="675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8pPr>
            <a:lvl9pPr algn="l">
              <a:defRPr sz="675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algn="l">
              <a:defRPr sz="675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675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До встречи</a:t>
            </a:r>
          </a:p>
          <a:p xmlns:a="http://schemas.openxmlformats.org/drawingml/2006/main">
            <a:pPr algn="l">
              <a:defRPr sz="675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675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на тропе</a:t>
            </a:r>
          </a:p>
        </p:txBody>
      </p:sp>
      <p:sp>
        <p:nvSpPr>
          <p:cNvPr id="4" name="tz-11-turklub-tropa-phi.vercel.app">
            <a:extLst xmlns:a="http://schemas.openxmlformats.org/drawingml/2006/main">
              <a:ext uri="{FF2B5EF4-FFF2-40B4-BE49-F238E27FC236}">
                <a16:creationId xmlns:a16="http://schemas.microsoft.com/office/drawing/2014/main" id="{DDD4CE25-77C6-40AD-A529-7E79A81D8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810250"/>
            <a:ext cx="9525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25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defPPr>
            <a:lvl1pPr algn="l">
              <a:defRPr sz="225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1pPr>
            <a:lvl2pPr algn="l">
              <a:defRPr sz="225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2pPr>
            <a:lvl3pPr algn="l">
              <a:defRPr sz="225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3pPr>
            <a:lvl4pPr algn="l">
              <a:defRPr sz="225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4pPr>
            <a:lvl5pPr algn="l">
              <a:defRPr sz="225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5pPr>
            <a:lvl6pPr algn="l">
              <a:defRPr sz="225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6pPr>
            <a:lvl7pPr algn="l">
              <a:defRPr sz="225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7pPr>
            <a:lvl8pPr algn="l">
              <a:defRPr sz="225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8pPr>
            <a:lvl9pPr algn="l">
              <a:defRPr sz="225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algn="l">
              <a:defRPr sz="225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250" u="sng">
                <a:solidFill>
                  <a:srgbClr val="FFFFFF"/>
                </a:solidFill>
                <a:latin typeface="Georgia"/>
                <a:ea typeface="Georgia"/>
                <a:cs typeface="Georgia"/>
                <a:hlinkClick xmlns:r="http://schemas.openxmlformats.org/officeDocument/2006/relationships" r:id="R48e963aebaed4e95"/>
              </a:rPr>
              <a:t>tz-11-turklub-tropa-phi.vercel.app</a:t>
            </a:r>
          </a:p>
        </p:txBody>
      </p:sp>
      <p:sp>
        <p:nvSpPr>
          <p:cNvPr id="5" name="github.com/Resolushh/tz-11-turklub-">
            <a:extLst xmlns:a="http://schemas.openxmlformats.org/drawingml/2006/main">
              <a:ext uri="{FF2B5EF4-FFF2-40B4-BE49-F238E27FC236}">
                <a16:creationId xmlns:a16="http://schemas.microsoft.com/office/drawing/2014/main" id="{035C561A-1E17-43FC-87A3-122F33BA9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6572250"/>
            <a:ext cx="9525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25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defPPr>
            <a:lvl1pPr algn="l">
              <a:defRPr sz="225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1pPr>
            <a:lvl2pPr algn="l">
              <a:defRPr sz="225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2pPr>
            <a:lvl3pPr algn="l">
              <a:defRPr sz="225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3pPr>
            <a:lvl4pPr algn="l">
              <a:defRPr sz="225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4pPr>
            <a:lvl5pPr algn="l">
              <a:defRPr sz="225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5pPr>
            <a:lvl6pPr algn="l">
              <a:defRPr sz="225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6pPr>
            <a:lvl7pPr algn="l">
              <a:defRPr sz="225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7pPr>
            <a:lvl8pPr algn="l">
              <a:defRPr sz="225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8pPr>
            <a:lvl9pPr algn="l">
              <a:defRPr sz="225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algn="l">
              <a:defRPr sz="225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250" u="sng">
                <a:solidFill>
                  <a:srgbClr val="FFFFFF"/>
                </a:solidFill>
                <a:latin typeface="Georgia"/>
                <a:ea typeface="Georgia"/>
                <a:cs typeface="Georgia"/>
                <a:hlinkClick xmlns:r="http://schemas.openxmlformats.org/officeDocument/2006/relationships" r:id="R5af845d2dd1a4910"/>
              </a:rPr>
              <a:t>github.com/Resolushh/tz-11-turklub-tropa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D90AF4-3D33-4FF0-AA3A-550AA9FF430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eb31fbf2384384"/>
          <a:stretch xmlns:a="http://schemas.openxmlformats.org/drawingml/2006/main"/>
        </p:blipFill>
        <p:spPr>
          <a:xfrm xmlns:a="http://schemas.openxmlformats.org/drawingml/2006/main">
            <a:off x="10763250" y="2857500"/>
            <a:ext cx="3524250" cy="3524250"/>
          </a:xfrm>
          <a:prstGeom xmlns:a="http://schemas.openxmlformats.org/drawingml/2006/main" prst="rect">
            <a:avLst/>
          </a:prstGeom>
        </p:spPr>
      </p:pic>
      <p:sp>
        <p:nvSpPr>
          <p:cNvPr id="7" name="Код и доказательства">
            <a:extLst xmlns:a="http://schemas.openxmlformats.org/drawingml/2006/main">
              <a:ext uri="{FF2B5EF4-FFF2-40B4-BE49-F238E27FC236}">
                <a16:creationId xmlns:a16="http://schemas.microsoft.com/office/drawing/2014/main" id="{5EDC6A3F-7D90-440E-8D73-FF8719D0C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762750"/>
            <a:ext cx="4191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2175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defPPr>
            <a:lvl1pPr algn="ctr">
              <a:defRPr sz="2175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1pPr>
            <a:lvl2pPr algn="ctr">
              <a:defRPr sz="2175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2pPr>
            <a:lvl3pPr algn="ctr">
              <a:defRPr sz="2175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3pPr>
            <a:lvl4pPr algn="ctr">
              <a:defRPr sz="2175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4pPr>
            <a:lvl5pPr algn="ctr">
              <a:defRPr sz="2175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5pPr>
            <a:lvl6pPr algn="ctr">
              <a:defRPr sz="2175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6pPr>
            <a:lvl7pPr algn="ctr">
              <a:defRPr sz="2175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7pPr>
            <a:lvl8pPr algn="ctr">
              <a:defRPr sz="2175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8pPr>
            <a:lvl9pPr algn="ctr">
              <a:defRPr sz="2175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algn="ctr">
              <a:defRPr sz="2175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175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Код и доказательства</a:t>
            </a:r>
          </a:p>
        </p:txBody>
      </p:sp>
    </p:spTree>
    <p:extLst>
      <p:ext uri="{BB962C8B-B14F-4D97-AF65-F5344CB8AC3E}">
        <p14:creationId xmlns:p14="http://schemas.microsoft.com/office/powerpoint/2010/main" val="33090384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2026-10-30T02:07:59.3980000Z</dcterms:created>
  <dcterms:modified xsi:type="dcterms:W3CDTF">2026-10-30T02:07:59.3980000Z</dcterms:modified>
</coreProperties>
</file>