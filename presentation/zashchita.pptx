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d35d6e78a7f442e" /><Relationship Type="http://schemas.openxmlformats.org/officeDocument/2006/relationships/extended-properties" Target="/docProps/app.xml" Id="R71234509be6d43ba" /><Relationship Type="http://schemas.openxmlformats.org/officeDocument/2006/relationships/officeDocument" Target="/ppt/presentation.xml" Id="Ra6ec5510d3f644a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6637ef9a614cb2"/>
  </p:sldMasterIdLst>
  <p:notesMasterIdLst>
    <p:notesMasterId xmlns:r="http://schemas.openxmlformats.org/officeDocument/2006/relationships" r:id="Rc7e4d368fb9542a8"/>
  </p:notesMasterIdLst>
  <p:sldIdLst>
    <p:sldId xmlns:r="http://schemas.openxmlformats.org/officeDocument/2006/relationships" id="256" r:id="R554359a8c7c84bd8"/>
    <p:sldId xmlns:r="http://schemas.openxmlformats.org/officeDocument/2006/relationships" id="257" r:id="Rbdf28827883248bc"/>
    <p:sldId xmlns:r="http://schemas.openxmlformats.org/officeDocument/2006/relationships" id="258" r:id="Rc9fa3f58393d4d8f"/>
    <p:sldId xmlns:r="http://schemas.openxmlformats.org/officeDocument/2006/relationships" id="259" r:id="Rf2620e8ba6454009"/>
    <p:sldId xmlns:r="http://schemas.openxmlformats.org/officeDocument/2006/relationships" id="260" r:id="Re48bb591e6dd4e37"/>
    <p:sldId xmlns:r="http://schemas.openxmlformats.org/officeDocument/2006/relationships" id="261" r:id="R814a0c5bf0da4d63"/>
    <p:sldId xmlns:r="http://schemas.openxmlformats.org/officeDocument/2006/relationships" id="262" r:id="R3c49725e39cd4356"/>
    <p:sldId xmlns:r="http://schemas.openxmlformats.org/officeDocument/2006/relationships" id="263" r:id="R8710979553134110"/>
    <p:sldId xmlns:r="http://schemas.openxmlformats.org/officeDocument/2006/relationships" id="264" r:id="R9c55b745049f45ef"/>
    <p:sldId xmlns:r="http://schemas.openxmlformats.org/officeDocument/2006/relationships" id="265" r:id="Rf581f933c2734ee7"/>
    <p:sldId xmlns:r="http://schemas.openxmlformats.org/officeDocument/2006/relationships" id="266" r:id="R37a7a817f2aa434e"/>
    <p:sldId xmlns:r="http://schemas.openxmlformats.org/officeDocument/2006/relationships" id="267" r:id="R9c1687c9189c4de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a79e180993f48d7" /><Relationship Type="http://schemas.openxmlformats.org/officeDocument/2006/relationships/slideMaster" Target="/ppt/slideMasters/slideMaster1.xml" Id="R456637ef9a614cb2" /><Relationship Type="http://schemas.openxmlformats.org/officeDocument/2006/relationships/notesMaster" Target="/ppt/notesMasters/notesMaster1.xml" Id="Rc7e4d368fb9542a8" /><Relationship Type="http://schemas.openxmlformats.org/officeDocument/2006/relationships/presProps" Target="/ppt/presProps.xml" Id="R102df96871d349dc" /><Relationship Type="http://schemas.openxmlformats.org/officeDocument/2006/relationships/tableStyles" Target="/ppt/tableStyles.xml" Id="R78a4c6658225455f" /><Relationship Type="http://schemas.openxmlformats.org/officeDocument/2006/relationships/slide" Target="/ppt/slides/slide1.xml" Id="R554359a8c7c84bd8" /><Relationship Type="http://schemas.openxmlformats.org/officeDocument/2006/relationships/slide" Target="/ppt/slides/slide2.xml" Id="Rbdf28827883248bc" /><Relationship Type="http://schemas.openxmlformats.org/officeDocument/2006/relationships/slide" Target="/ppt/slides/slide3.xml" Id="Rc9fa3f58393d4d8f" /><Relationship Type="http://schemas.openxmlformats.org/officeDocument/2006/relationships/slide" Target="/ppt/slides/slide4.xml" Id="Rf2620e8ba6454009" /><Relationship Type="http://schemas.openxmlformats.org/officeDocument/2006/relationships/slide" Target="/ppt/slides/slide5.xml" Id="Re48bb591e6dd4e37" /><Relationship Type="http://schemas.openxmlformats.org/officeDocument/2006/relationships/slide" Target="/ppt/slides/slide6.xml" Id="R814a0c5bf0da4d63" /><Relationship Type="http://schemas.openxmlformats.org/officeDocument/2006/relationships/slide" Target="/ppt/slides/slide7.xml" Id="R3c49725e39cd4356" /><Relationship Type="http://schemas.openxmlformats.org/officeDocument/2006/relationships/slide" Target="/ppt/slides/slide8.xml" Id="R8710979553134110" /><Relationship Type="http://schemas.openxmlformats.org/officeDocument/2006/relationships/slide" Target="/ppt/slides/slide9.xml" Id="R9c55b745049f45ef" /><Relationship Type="http://schemas.openxmlformats.org/officeDocument/2006/relationships/slide" Target="/ppt/slides/slide10.xml" Id="Rf581f933c2734ee7" /><Relationship Type="http://schemas.openxmlformats.org/officeDocument/2006/relationships/slide" Target="/ppt/slides/slide11.xml" Id="R37a7a817f2aa434e" /><Relationship Type="http://schemas.openxmlformats.org/officeDocument/2006/relationships/slide" Target="/ppt/slides/slide12.xml" Id="R9c1687c9189c4de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39d965f3864c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4c0cb7634e456f" /><Relationship Type="http://schemas.openxmlformats.org/officeDocument/2006/relationships/notesMaster" Target="/ppt/notesMasters/notesMaster1.xml" Id="R01d643120e9242e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49295c664af49ab" /><Relationship Type="http://schemas.openxmlformats.org/officeDocument/2006/relationships/notesMaster" Target="/ppt/notesMasters/notesMaster1.xml" Id="R3f2ae729ac5646a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23dddf282a4727" /><Relationship Type="http://schemas.openxmlformats.org/officeDocument/2006/relationships/notesMaster" Target="/ppt/notesMasters/notesMaster1.xml" Id="Rd1ccfb9bcc4747c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61648fa10f8448d" /><Relationship Type="http://schemas.openxmlformats.org/officeDocument/2006/relationships/notesMaster" Target="/ppt/notesMasters/notesMaster1.xml" Id="R594e287434db43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dbe9adcd5142c0" /><Relationship Type="http://schemas.openxmlformats.org/officeDocument/2006/relationships/notesMaster" Target="/ppt/notesMasters/notesMaster1.xml" Id="R462d87200f9e427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af610980124d04" /><Relationship Type="http://schemas.openxmlformats.org/officeDocument/2006/relationships/notesMaster" Target="/ppt/notesMasters/notesMaster1.xml" Id="R02368d293ef148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ea7430ee524b20" /><Relationship Type="http://schemas.openxmlformats.org/officeDocument/2006/relationships/notesMaster" Target="/ppt/notesMasters/notesMaster1.xml" Id="R41c411121ca7493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dbac811862b49b2" /><Relationship Type="http://schemas.openxmlformats.org/officeDocument/2006/relationships/notesMaster" Target="/ppt/notesMasters/notesMaster1.xml" Id="R181de109301c47a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f48a7fb5e51468e" /><Relationship Type="http://schemas.openxmlformats.org/officeDocument/2006/relationships/notesMaster" Target="/ppt/notesMasters/notesMaster1.xml" Id="R707c24f47fd347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df4b363567d43c2" /><Relationship Type="http://schemas.openxmlformats.org/officeDocument/2006/relationships/notesMaster" Target="/ppt/notesMasters/notesMaster1.xml" Id="Rabe95705a66b407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a4f4c3f5bd64bce" /><Relationship Type="http://schemas.openxmlformats.org/officeDocument/2006/relationships/notesMaster" Target="/ppt/notesMasters/notesMaster1.xml" Id="Reab984ba23474a4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08b83afa0fe416e" /><Relationship Type="http://schemas.openxmlformats.org/officeDocument/2006/relationships/notesMaster" Target="/ppt/notesMasters/notesMaster1.xml" Id="R52f94836b7ed46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15 секунд. Курсовой проект по ОП.03, ТЗ-11/2026. Промежуточная версия: показывает подтверждённый результат. Финальную защиту подготовить после живых проверок. Источник: README проекта.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секунд. Источник: ТЗ-11/2026, письмо директора на странице 2. Все числа относятся к вымышленному кейсу, а не к статистике созданного сайта. Объяснить потерю заявки из-за отсутствия другой даты.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секунд. Схема целевого процесса по ТЗ, разделы 4–8. Сайт опубликован, остальные связи требуют проверки. Источник: docs/scheme.png, README проекта. Все блоки и связи на этом слайде редактируются.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секунд. Источник: опубликованный сайт на Vercel, screens/tropa-published.png и код проекта. Девять страниц с 404. HTML/CSS/JS без сборки. Не заявлять баллы Lighthouse: проверка ещё не завершена.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секунд. Источники: screens/kursovaya/09-calendar-mobile.png и docs/verification.md. Проверен переход icefalls с 5 на 13 декабря. 13 учебных дат, 375/768/1280 без переполнения. Даты и остатки вымышлены с согласия пользователя.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50 секунд. Источники: js/form.js, apps-script/Code.gs, docs/verification.md. Локальные проверки используют mock Google API. Живая запись в leads не проверена, поскольку Google ожидает подтверждения личности. generate_lead вызывается только после ok:true.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секунд. Источник: живой лист utm в Tropa — Bookings, docs/utm.csv и docs/utm.xlsx. Проверены результаты J2:J13. Две партнёрские строки отложены пользователем. Публикации ещё не выполнены.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секунд. Источник: docs/manychat.md, ТЗ-11/2026 раздел 7. Это схема подготовленных веток, а не снимок работающей автоматизации. Для завершения нужны аккаунт проекта, конкретный Reel и проверки со второго аккаунта.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секунд. Источник: screens/kursovaya/03-custom-definitions.png, 04-key-events.png, docs/events.md. Measurement ID G-JG7PNX1WWW. Семь определений сохранены. contact_click, generate_lead, messenger_click ключевые. purchase системный и отключить его в интерфейсе нельзя. Приём событий не подтверждён.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 секунд. План по ТЗ-11/2026, раздел 8. Воронка: page_view, trip_filter, cta_click, form_start, generate_lead. В DataLens три вкладки: трафик, заявки, кампании. Источники: GA4 и Bookings. Реальных результатов нет, их нельзя заменить вымышленными цифрами.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секунд. Источники: README, docs/verification.md, docs/prompts.md. ИИ помог с HTML/CSS/JS, Apps Script и документацией. Вручную проверялись валидация, адаптивность и формулы UTM. Нельзя заявлять законченные отчёты или действующий ManyChat.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 секунд. Полные ссылки открываются из документации репозитория. Таблица доступна по ссылке читателю. Для GA4 нужен e-mail преподавателя. Публичного DataLens нет и по ТЗ не должно быть. Источник: README проекта.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b2926f1de2405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2dac75bdc7420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278ca9512e4cf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e082eb61cf40b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d83cde29ed4ac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d53e552dac4b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F53FA3A-9FFC-47F8-A49D-1774DE486E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08BEF8A-537C-4CAE-97EC-8023C4248DA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F39A948-3611-4470-96F5-E3593A1B94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6274A0B-B722-41F0-93A4-82C42FD63D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D853914-170A-4614-B455-AAD7E49C4D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1C65632-AE30-4B6C-97B5-52803517C4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54228D6-FCCB-4A18-B3C2-C948EFDBCE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E0E66C0-57DE-4DEC-BDAE-2C911A7F5CE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44609DC-1A77-45E5-9535-E002361F1A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1B8B7DF-907F-48DB-BD72-F043881DC0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9da99d727e5452e" /><Relationship Type="http://schemas.openxmlformats.org/officeDocument/2006/relationships/slideLayout" Target="/ppt/slideLayouts/slideLayout1.xml" Id="R2f17c863d70645fc" /><Relationship Type="http://schemas.openxmlformats.org/officeDocument/2006/relationships/slideLayout" Target="/ppt/slideLayouts/slideLayout2.xml" Id="R44aea2dd9e9d45f6" /><Relationship Type="http://schemas.openxmlformats.org/officeDocument/2006/relationships/slideLayout" Target="/ppt/slideLayouts/slideLayout3.xml" Id="Rfd08bb6f8e174bc7" /><Relationship Type="http://schemas.openxmlformats.org/officeDocument/2006/relationships/slideLayout" Target="/ppt/slideLayouts/slideLayout4.xml" Id="R1235b36ed5634b1d" /><Relationship Type="http://schemas.openxmlformats.org/officeDocument/2006/relationships/slideLayout" Target="/ppt/slideLayouts/slideLayout5.xml" Id="Rb6a68bd109764dda" /><Relationship Type="http://schemas.openxmlformats.org/officeDocument/2006/relationships/slideLayout" Target="/ppt/slideLayouts/slideLayout6.xml" Id="R92e839a4ef3547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17c863d70645fc"/>
    <p:sldLayoutId xmlns:r="http://schemas.openxmlformats.org/officeDocument/2006/relationships" id="2147483650" r:id="R44aea2dd9e9d45f6"/>
    <p:sldLayoutId xmlns:r="http://schemas.openxmlformats.org/officeDocument/2006/relationships" id="2147483651" r:id="Rfd08bb6f8e174bc7"/>
    <p:sldLayoutId xmlns:r="http://schemas.openxmlformats.org/officeDocument/2006/relationships" id="2147483652" r:id="R1235b36ed5634b1d"/>
    <p:sldLayoutId xmlns:r="http://schemas.openxmlformats.org/officeDocument/2006/relationships" id="2147483653" r:id="Rb6a68bd109764dda"/>
    <p:sldLayoutId xmlns:r="http://schemas.openxmlformats.org/officeDocument/2006/relationships" id="2147483654" r:id="R92e839a4ef3547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a41c6bf34b45cf" /><Relationship Type="http://schemas.openxmlformats.org/officeDocument/2006/relationships/image" Target="/ppt/media/image.jpeg" Id="R3648e4abe9ed4d5f" /><Relationship Type="http://schemas.openxmlformats.org/officeDocument/2006/relationships/notesSlide" Target="/ppt/notesSlides/notesSlide1.xml" Id="R617c087d494b4a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fafd5d831b43a2" /><Relationship Type="http://schemas.openxmlformats.org/officeDocument/2006/relationships/notesSlide" Target="/ppt/notesSlides/notesSlide2.xml" Id="R13d37d6400204e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780fe567f3413f" /><Relationship Type="http://schemas.openxmlformats.org/officeDocument/2006/relationships/notesSlide" Target="/ppt/notesSlides/notesSlide3.xml" Id="Rb5a01e2223b441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62e493ac994d1c" /><Relationship Type="http://schemas.openxmlformats.org/officeDocument/2006/relationships/image" Target="/ppt/media/image2.jpeg" Id="Raa10f48943214df8" /><Relationship Type="http://schemas.openxmlformats.org/officeDocument/2006/relationships/notesSlide" Target="/ppt/notesSlides/notesSlide4.xml" Id="R3ae1cd7bce6f4e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45572ab0ec440b" /><Relationship Type="http://schemas.openxmlformats.org/officeDocument/2006/relationships/image" Target="/ppt/media/image3.jpeg" Id="R54724a7b1ec44806" /><Relationship Type="http://schemas.openxmlformats.org/officeDocument/2006/relationships/notesSlide" Target="/ppt/notesSlides/notesSlide5.xml" Id="R9905c07870a14d1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689d2981e548bf" /><Relationship Type="http://schemas.openxmlformats.org/officeDocument/2006/relationships/notesSlide" Target="/ppt/notesSlides/notesSlide6.xml" Id="R7cb1c8ed0fdc4e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e2b629b92842ee" /><Relationship Type="http://schemas.openxmlformats.org/officeDocument/2006/relationships/image" Target="/ppt/media/image4.jpeg" Id="R1ff55c22228b45eb" /><Relationship Type="http://schemas.openxmlformats.org/officeDocument/2006/relationships/notesSlide" Target="/ppt/notesSlides/notesSlide7.xml" Id="R54540130f49e49e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db1b1c6e5d4bc6" /><Relationship Type="http://schemas.openxmlformats.org/officeDocument/2006/relationships/notesSlide" Target="/ppt/notesSlides/notesSlide8.xml" Id="Raa84c26ddc1442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c1c26524d542d7" /><Relationship Type="http://schemas.openxmlformats.org/officeDocument/2006/relationships/image" Target="/ppt/media/image5.jpeg" Id="R0b74c5a7778a4808" /><Relationship Type="http://schemas.openxmlformats.org/officeDocument/2006/relationships/notesSlide" Target="/ppt/notesSlides/notesSlide9.xml" Id="R6f6e9206fcc9466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55546c03ba438b" /><Relationship Type="http://schemas.openxmlformats.org/officeDocument/2006/relationships/notesSlide" Target="/ppt/notesSlides/notesSlide10.xml" Id="R9cdf5a0bc9524d2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f14896ae7c4ab7" /><Relationship Type="http://schemas.openxmlformats.org/officeDocument/2006/relationships/notesSlide" Target="/ppt/notesSlides/notesSlide11.xml" Id="Rae09f51038d64d6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1ab0177d4a400b" /><Relationship Type="http://schemas.openxmlformats.org/officeDocument/2006/relationships/image" Target="/ppt/media/image.png" Id="Rc38ccdf4fc0a4a51" /><Relationship Type="http://schemas.openxmlformats.org/officeDocument/2006/relationships/notesSlide" Target="/ppt/notesSlides/notesSlide12.xml" Id="R72abed78d2004c0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C9651A-BB33-498C-AFBA-B43EA342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ТРОПА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00584-1DAC-4569-A3CA-8CA2C10E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97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BFA14-CCF9-45AE-85BA-B910CF57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381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9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39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39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39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39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39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39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39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39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39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Сайт и аналитика</a:t>
            </a:r>
          </a:p>
          <a:p xmlns:a="http://schemas.openxmlformats.org/drawingml/2006/main">
            <a:pPr>
              <a:defRPr sz="39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зимних походов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068C3C-CCCD-4FCE-AA1E-C671D84D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43325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B6F8F"/>
                </a:solidFill>
                <a:latin typeface="Arial"/>
                <a:ea typeface="Arial"/>
                <a:cs typeface="Arial"/>
              </a:rPr>
              <a:t>ТЗ-11/2026</a:t>
            </a:r>
          </a:p>
          <a:p xmlns:a="http://schemas.openxmlformats.org/drawingml/2006/main">
            <a: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B6F8F"/>
                </a:solidFill>
                <a:latin typeface="Arial"/>
                <a:ea typeface="Arial"/>
                <a:cs typeface="Arial"/>
              </a:rPr>
              <a:t>Зотов Владислав Сергеевич</a:t>
            </a:r>
          </a:p>
          <a:p xmlns:a="http://schemas.openxmlformats.org/drawingml/2006/main">
            <a: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B6F8F"/>
                </a:solidFill>
                <a:latin typeface="Arial"/>
                <a:ea typeface="Arial"/>
                <a:cs typeface="Arial"/>
              </a:rPr>
              <a:t>РПО 9/25/3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98100B-3115-499A-93E1-2EB93AD20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14975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26975"/>
                </a:solidFill>
                <a:latin typeface="Arial"/>
                <a:ea typeface="Arial"/>
                <a:cs typeface="Arial"/>
              </a:rPr>
              <a:t>Промежуточная версия на 27.10.2026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28C32B-3CB0-400A-848E-CEBDA6AC8C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48e4abe9ed4d5f"/>
          <a:stretch xmlns:a="http://schemas.openxmlformats.org/drawingml/2006/main"/>
        </p:blipFill>
        <p:spPr>
          <a:xfrm xmlns:a="http://schemas.openxmlformats.org/drawingml/2006/main">
            <a:off x="7429500" y="1958578"/>
            <a:ext cx="4095750" cy="215026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8216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71E03C-53B9-4D5B-9812-BAF636F7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Проблема заказчика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4AC6C2-E30C-476B-A6A0-982A8EC4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97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A4A1EE-CBDC-47EC-876F-E4B0D64B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1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defPPr>
            <a:lvl1pPr>
              <a:defRPr sz="91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1pPr>
            <a:lvl2pPr>
              <a:defRPr sz="91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2pPr>
            <a:lvl3pPr>
              <a:defRPr sz="91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3pPr>
            <a:lvl4pPr>
              <a:defRPr sz="91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4pPr>
            <a:lvl5pPr>
              <a:defRPr sz="91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5pPr>
            <a:lvl6pPr>
              <a:defRPr sz="91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6pPr>
            <a:lvl7pPr>
              <a:defRPr sz="91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7pPr>
            <a:lvl8pPr>
              <a:defRPr sz="91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8pPr>
            <a:lvl9pPr>
              <a:defRPr sz="91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1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pPr>
            <a:r>
              <a:rPr sz="9150" b="1">
                <a:solidFill>
                  <a:srgbClr val="2B6F8F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7DF551-5534-4529-9C80-5959B481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57550"/>
            <a:ext cx="6477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человек не получили</a:t>
            </a:r>
          </a:p>
          <a:p xmlns:a="http://schemas.openxmlformats.org/drawingml/2006/main">
            <a: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другую дату в сентябре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A490E8-994E-43C3-850A-CF032976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76450"/>
            <a:ext cx="4191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Бронь идёт в переписках.</a:t>
            </a:r>
          </a:p>
          <a:p xmlns:a="http://schemas.openxmlformats.org/drawingml/2006/main">
            <a: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Инструктор вручную сверяет места.</a:t>
            </a:r>
          </a:p>
          <a:p xmlns:a="http://schemas.openxmlformats.org/drawingml/2006/main">
            <a: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Источник обращения теряется.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AAE7BD-4B66-4E95-B468-0375BEDE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816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975"/>
                </a:solidFill>
                <a:latin typeface="Arial"/>
                <a:ea typeface="Arial"/>
                <a:cs typeface="Arial"/>
              </a:rPr>
              <a:t>Данные письма директора из учебного ТЗ</a:t>
            </a:r>
          </a:p>
        </p:txBody>
      </p:sp>
    </p:spTree>
    <p:extLst>
      <p:ext uri="{BB962C8B-B14F-4D97-AF65-F5344CB8AC3E}">
        <p14:creationId xmlns:p14="http://schemas.microsoft.com/office/powerpoint/2010/main" val="12624533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8ACCA4-495D-4EB8-8529-002C13735E6D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8667750" y="2452688"/>
            <a:ext cx="1714500" cy="976313"/>
          </a:xfrm>
          <a:prstGeom xmlns:a="http://schemas.openxmlformats.org/drawingml/2006/main" prst="bentConnector2">
            <a:avLst/>
          </a:prstGeom>
          <a:ln xmlns:a="http://schemas.openxmlformats.org/drawingml/2006/main" w="28575">
            <a:solidFill>
              <a:srgbClr val="2B6F8F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B39051-B701-450E-9CBE-17E0B6DA3F6B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5762625" y="3976688"/>
            <a:ext cx="3524250" cy="9048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B6F8F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40E351-11E4-48FD-9225-6E912F903F60}"/>
              </a:ext>
            </a:extLst>
          </p:cNvPr>
          <p:cNvCxnSpPr>
            <a:stCxn xmlns:a="http://schemas.openxmlformats.org/drawingml/2006/main" id="8" idx="0"/>
            <a:endCxn xmlns:a="http://schemas.openxmlformats.org/drawingml/2006/main" id="4" idx="1"/>
          </p:cNvCxnSpPr>
          <p:nvPr/>
        </p:nvCxnSpPr>
        <p:spPr>
          <a:xfrm xmlns:a="http://schemas.openxmlformats.org/drawingml/2006/main" flipV="1">
            <a:off x="1714500" y="2452688"/>
            <a:ext cx="1762125" cy="1881188"/>
          </a:xfrm>
          <a:prstGeom xmlns:a="http://schemas.openxmlformats.org/drawingml/2006/main" prst="bentConnector5">
            <a:avLst>
              <a:gd name="adj1" fmla="val 0"/>
              <a:gd name="adj2" fmla="val 12152"/>
              <a:gd name="adj3" fmla="val 87027"/>
            </a:avLst>
          </a:prstGeom>
          <a:ln xmlns:a="http://schemas.openxmlformats.org/drawingml/2006/main" w="28575">
            <a:solidFill>
              <a:srgbClr val="2B6F8F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F034A4-4D0D-41C8-AA90-4C163243DE4F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4619625" y="3000375"/>
            <a:ext cx="0" cy="13335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B6F8F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A7D1F1-ACC3-4D22-A694-22634358B4DC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762625" y="2452688"/>
            <a:ext cx="6191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B6F8F"/>
            </a:solidFill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A336E6-5091-401D-862A-54028EB68012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857500" y="2452688"/>
            <a:ext cx="6191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B6F8F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740447-687F-46FB-B287-46EF6D10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Схема работы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4E662-5B0F-4D65-BBAB-134B65FE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97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E45056-1F5B-4B04-979E-050D0724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B6F8F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Соцсети</a:t>
            </a:r>
          </a:p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и QR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1063DE-6A85-41D6-8EB8-CF2001C8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905000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B6F8F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Сайт</a:t>
            </a:r>
          </a:p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на Vercel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A72AF9-545A-4AE9-937E-6105DA2A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05000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B6F8F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События</a:t>
            </a:r>
          </a:p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GA4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AEB0CF-B942-4C37-A00B-C1300140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429000"/>
            <a:ext cx="2190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B6F8F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DataLens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0752CB-658F-4270-8429-7D9AA686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333875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B6F8F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Apps Script</a:t>
            </a:r>
          </a:p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и Bookings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12B5E1-734B-44FA-BE8E-A00A47A27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33875"/>
            <a:ext cx="22860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B6F8F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Instagram</a:t>
            </a:r>
          </a:p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ManyChat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941715-62DD-47C6-B449-C979C51E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975"/>
                </a:solidFill>
                <a:latin typeface="Arial"/>
                <a:ea typeface="Arial"/>
                <a:cs typeface="Arial"/>
              </a:rPr>
              <a:t>Приём заявок, сбор событий и DataLens ещё требуют запуска</a:t>
            </a:r>
          </a:p>
        </p:txBody>
      </p:sp>
    </p:spTree>
    <p:extLst>
      <p:ext uri="{BB962C8B-B14F-4D97-AF65-F5344CB8AC3E}">
        <p14:creationId xmlns:p14="http://schemas.microsoft.com/office/powerpoint/2010/main" val="9483235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FA6064-3B1A-493B-81C7-2BDB6306E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Сайт с шестью маршрутами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56F8CA-AB02-4462-B217-0BF9537B1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97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D2CDFD-F201-4529-B00A-ADF3F38F02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10f48943214df8"/>
          <a:stretch xmlns:a="http://schemas.openxmlformats.org/drawingml/2006/main"/>
        </p:blipFill>
        <p:spPr>
          <a:xfrm xmlns:a="http://schemas.openxmlformats.org/drawingml/2006/main">
            <a:off x="1789105" y="1381125"/>
            <a:ext cx="8613789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A4E173-4884-4670-8E87-9CBDD5B9C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007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9 страниц. HTML, CSS и JavaScript без сборки</a:t>
            </a:r>
          </a:p>
        </p:txBody>
      </p:sp>
    </p:spTree>
    <p:extLst>
      <p:ext uri="{BB962C8B-B14F-4D97-AF65-F5344CB8AC3E}">
        <p14:creationId xmlns:p14="http://schemas.microsoft.com/office/powerpoint/2010/main" val="9550616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E32450-BDC0-4B91-8E7B-C4E903DF8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Календарь предлагает другую дату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D0C16A-397F-4E79-8CD0-4EDE1B08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97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8CC53-194D-40EB-BA1A-9DFA8C8A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7429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13 учебных выездов</a:t>
            </a:r>
          </a:p>
          <a:p xmlns:a="http://schemas.openxmlformats.org/drawingml/2006/main">
            <a:pPr>
              <a:defRPr sz="30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на декабрь и январь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E41461-7DAD-4583-8449-42D1EC7D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7524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На 5 декабря мест нет.</a:t>
            </a:r>
          </a:p>
          <a:p xmlns:a="http://schemas.openxmlformats.org/drawingml/2006/main">
            <a: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Сайт предлагает 13 декабря</a:t>
            </a:r>
          </a:p>
          <a:p xmlns:a="http://schemas.openxmlformats.org/drawingml/2006/main">
            <a: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для того же маршрута.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84E6A0-00D7-4689-8698-926B8027DE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724a7b1ec44806"/>
          <a:stretch xmlns:a="http://schemas.openxmlformats.org/drawingml/2006/main"/>
        </p:blipFill>
        <p:spPr>
          <a:xfrm xmlns:a="http://schemas.openxmlformats.org/drawingml/2006/main">
            <a:off x="9203531" y="1323975"/>
            <a:ext cx="2024063" cy="4857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DE324D-EC64-41FF-88B3-56F7C02D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0"/>
            <a:ext cx="809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975"/>
                </a:solidFill>
                <a:latin typeface="Arial"/>
                <a:ea typeface="Arial"/>
                <a:cs typeface="Arial"/>
              </a:rPr>
              <a:t>Учебные данные. Реальные поездки не продаются</a:t>
            </a:r>
          </a:p>
        </p:txBody>
      </p:sp>
    </p:spTree>
    <p:extLst>
      <p:ext uri="{BB962C8B-B14F-4D97-AF65-F5344CB8AC3E}">
        <p14:creationId xmlns:p14="http://schemas.microsoft.com/office/powerpoint/2010/main" val="9980025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159E92-D8CB-4E61-AE19-C170AFB52E9B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429500" y="2690813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B6F8F"/>
            </a:solidFill>
            <a:tailEnd type="arrow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3733E7-F5CF-40E9-B07B-DF9FA8BC6258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429000" y="2690813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B6F8F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E40F96-F513-40BE-8CD1-80DB4769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Форма и приёмник заявок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4B6F84-DDCA-4704-8214-F3FA9C06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97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8A6103-B247-46FE-8598-6F576899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47875"/>
            <a:ext cx="2857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B6F8F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Форма</a:t>
            </a:r>
          </a:p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и REQ-UUID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7960A6-27F0-4F5B-A397-94E71D63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47875"/>
            <a:ext cx="2857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B6F8F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Проверка</a:t>
            </a:r>
          </a:p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Apps Script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F58D5B-FE17-4B75-A9A4-4FF536E5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47875"/>
            <a:ext cx="2857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B6F8F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Лист leads</a:t>
            </a:r>
          </a:p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и UTM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FD353B-E352-48DF-9CF2-BB22AA95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Повторный номер не создаёт вторую заявку.</a:t>
            </a:r>
          </a:p>
          <a:p xmlns:a="http://schemas.openxmlformats.org/drawingml/2006/main">
            <a: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Ошибка поля показывает сообщение рядом с полем.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8A6660-10D2-446C-A473-BCF7D386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959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B6F8F"/>
                </a:solidFill>
                <a:latin typeface="Arial"/>
                <a:ea typeface="Arial"/>
                <a:cs typeface="Arial"/>
              </a:rPr>
              <a:t>Живой запуск ожидает подтверждения личности Google</a:t>
            </a:r>
          </a:p>
        </p:txBody>
      </p:sp>
    </p:spTree>
    <p:extLst>
      <p:ext uri="{BB962C8B-B14F-4D97-AF65-F5344CB8AC3E}">
        <p14:creationId xmlns:p14="http://schemas.microsoft.com/office/powerpoint/2010/main" val="12656024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7DE90A-F1E6-40CD-A330-D5882F72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UTM рассчитываются в Google Таблице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26B540-8B11-412F-A60F-D5F714437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97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41670-308B-4E44-A228-C8D2C80A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0287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10 ссылок готовы.</a:t>
            </a:r>
          </a:p>
          <a:p xmlns:a="http://schemas.openxmlformats.org/drawingml/2006/main">
            <a: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2 партнёрские строки отложены.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24159F-9B93-427E-9067-05EF40B1A0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f55c22228b45eb"/>
          <a:srcRect xmlns:a="http://schemas.openxmlformats.org/drawingml/2006/main" l="0" t="15000" r="24000" b="50000"/>
          <a:stretch xmlns:a="http://schemas.openxmlformats.org/drawingml/2006/main"/>
        </p:blipFill>
        <p:spPr>
          <a:xfrm xmlns:a="http://schemas.openxmlformats.org/drawingml/2006/main">
            <a:off x="571500" y="2857500"/>
            <a:ext cx="11049000" cy="2409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09F5B5-F7C5-4A8F-BFAF-1B14F5E68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435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B6F8F"/>
                </a:solidFill>
                <a:latin typeface="Arial"/>
                <a:ea typeface="Arial"/>
                <a:cs typeface="Arial"/>
              </a:rPr>
              <a:t>Пять UTM-меток. Якорь #easy стоит после меток</a:t>
            </a:r>
          </a:p>
        </p:txBody>
      </p:sp>
    </p:spTree>
    <p:extLst>
      <p:ext uri="{BB962C8B-B14F-4D97-AF65-F5344CB8AC3E}">
        <p14:creationId xmlns:p14="http://schemas.microsoft.com/office/powerpoint/2010/main" val="8375901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A1CF52-F438-49E8-BAEA-CD72E00C9416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429000" y="4381500"/>
            <a:ext cx="15716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B6F8F"/>
            </a:solidFill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2CE232-2C38-4ECD-B0CA-F0ADF7755EC3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429000" y="2524125"/>
            <a:ext cx="15716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B6F8F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80FB96-FF93-4882-AAEC-AA28B2AA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Сценарии Instagram и ManyChat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7B21BE-BE77-4BC5-819A-BD0355A84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97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5A0543-673D-4120-8151-3B94D1246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47875"/>
            <a:ext cx="2857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B6F8F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СНАРЯГА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B80F82-3809-4113-BEF3-09FB5A94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905000"/>
            <a:ext cx="5524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B6F8F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Чек-лист</a:t>
            </a:r>
          </a:p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и калькулятор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5F4417-47E4-47CC-8B26-B0734DDB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2857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B6F8F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НОВИЧОК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108349-FAEA-4DB1-9892-8A9EBE399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762375"/>
            <a:ext cx="5524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B6F8F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Три лёгких</a:t>
            </a:r>
          </a:p>
          <a:p xmlns:a="http://schemas.openxmlformats.org/drawingml/2006/main">
            <a:pPr algn="ctr">
              <a:defRPr sz="210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F2A30"/>
                </a:solidFill>
                <a:latin typeface="Arial"/>
                <a:ea typeface="Arial"/>
                <a:cs typeface="Arial"/>
              </a:rPr>
              <a:t>маршрута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434246-80B3-4581-AFBC-AF3682EA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7212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B6F8F"/>
                </a:solidFill>
                <a:latin typeface="Arial"/>
                <a:ea typeface="Arial"/>
                <a:cs typeface="Arial"/>
              </a:rPr>
              <a:t>Сценарии подготовлены. Live ещё не включён</a:t>
            </a:r>
          </a:p>
        </p:txBody>
      </p:sp>
    </p:spTree>
    <p:extLst>
      <p:ext uri="{BB962C8B-B14F-4D97-AF65-F5344CB8AC3E}">
        <p14:creationId xmlns:p14="http://schemas.microsoft.com/office/powerpoint/2010/main" val="780766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AF862E-7BFE-4011-9756-E31C5627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Настройки GA4 сохранены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A6236A-B63F-431E-B621-247DE753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97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08BBAE-C953-4BB7-8A81-268EF5B8F2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74c5a7778a4808"/>
          <a:srcRect xmlns:a="http://schemas.openxmlformats.org/drawingml/2006/main" l="20000" t="15000" r="20000" b="23000"/>
          <a:stretch xmlns:a="http://schemas.openxmlformats.org/drawingml/2006/main"/>
        </p:blipFill>
        <p:spPr>
          <a:xfrm xmlns:a="http://schemas.openxmlformats.org/drawingml/2006/main">
            <a:off x="1714500" y="1285875"/>
            <a:ext cx="8763000" cy="4286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0B432F-4EF4-405A-B4A6-1641B4A5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48325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G-JG7PNX1WWW. Семь параметров уровня события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6AA3EF-97A8-4EC9-87B0-E858FFCB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341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975"/>
                </a:solidFill>
                <a:latin typeface="Arial"/>
                <a:ea typeface="Arial"/>
                <a:cs typeface="Arial"/>
              </a:rPr>
              <a:t>Получение событий ещё не подтверждено</a:t>
            </a:r>
          </a:p>
        </p:txBody>
      </p:sp>
    </p:spTree>
    <p:extLst>
      <p:ext uri="{BB962C8B-B14F-4D97-AF65-F5344CB8AC3E}">
        <p14:creationId xmlns:p14="http://schemas.microsoft.com/office/powerpoint/2010/main" val="200189171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960FFE-8E39-4089-85DC-F61CA8D7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Отчёты и DataLens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B1F44D-0F74-47A0-B607-B8831F6DB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97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D6F1B9-5B1E-49FB-A28F-55CFC6A2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10858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Воронка из пяти шагов покажет,</a:t>
            </a:r>
          </a:p>
          <a:p xmlns:a="http://schemas.openxmlformats.org/drawingml/2006/main">
            <a:pPr>
              <a:defRPr sz="27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где посетители прекращают путь к заявке.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61D3EB-FA9F-45C7-8E8A-B909017E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10858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DataLens объединит трафик, заявки и кампании.</a:t>
            </a:r>
          </a:p>
          <a:p xmlns:a="http://schemas.openxmlformats.org/drawingml/2006/main">
            <a:pPr>
              <a:defRPr sz="24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Сравнение источников начнётся после сбора данных.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311BFF-758C-4910-AC53-580F223B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006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B6F8F"/>
                </a:solidFill>
                <a:latin typeface="Arial"/>
                <a:ea typeface="Arial"/>
                <a:cs typeface="Arial"/>
              </a:rPr>
              <a:t>Данных и готового дашборда пока нет</a:t>
            </a:r>
          </a:p>
        </p:txBody>
      </p:sp>
    </p:spTree>
    <p:extLst>
      <p:ext uri="{BB962C8B-B14F-4D97-AF65-F5344CB8AC3E}">
        <p14:creationId xmlns:p14="http://schemas.microsoft.com/office/powerpoint/2010/main" val="105038709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C7B19D-427B-4C25-BF4F-053A777C5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Текущий результат и незавершённые этапы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9ECBF1-9056-4789-AA36-E308C2BF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97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8EFB62-4E94-43A5-83FB-92024219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2625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2625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2625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2625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2625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2625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2625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2625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2625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Сайт опубликован, календарь и UTM проверены.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946555-7ABB-45DD-AB7E-F191BE08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76550"/>
            <a:ext cx="10858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Следующий этап: живые заявки и события GA4.</a:t>
            </a:r>
          </a:p>
          <a:p xmlns:a="http://schemas.openxmlformats.org/drawingml/2006/main">
            <a:pPr>
              <a:defRPr sz="25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Затем публикации, ManyChat и отчёты.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0ABAB8-534E-4F4E-9A45-F7F63CDA4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76800"/>
            <a:ext cx="10858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B6F8F"/>
                </a:solidFill>
                <a:latin typeface="Arial"/>
                <a:ea typeface="Arial"/>
                <a:cs typeface="Arial"/>
              </a:rPr>
              <a:t>ИИ использован для кода и документации.</a:t>
            </a:r>
          </a:p>
          <a:p xmlns:a="http://schemas.openxmlformats.org/drawingml/2006/main">
            <a:pPr>
              <a:defRPr sz="2250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B6F8F"/>
                </a:solidFill>
                <a:latin typeface="Arial"/>
                <a:ea typeface="Arial"/>
                <a:cs typeface="Arial"/>
              </a:rPr>
              <a:t>Проверки выполнены по отдельным сценариям.</a:t>
            </a:r>
          </a:p>
        </p:txBody>
      </p:sp>
    </p:spTree>
    <p:extLst>
      <p:ext uri="{BB962C8B-B14F-4D97-AF65-F5344CB8AC3E}">
        <p14:creationId xmlns:p14="http://schemas.microsoft.com/office/powerpoint/2010/main" val="254452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0639C7-5E5F-4083-B462-BEFA0D1C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Ссылки на проект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9D76D3-8AAB-4770-8107-C4B949C9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97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FD99BB-82AF-46B3-91ED-F39223DE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28775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B6F8F"/>
                </a:solidFill>
                <a:latin typeface="Arial"/>
                <a:ea typeface="Arial"/>
                <a:cs typeface="Arial"/>
              </a:rPr>
              <a:t>Сайт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2B5E80-7078-42A8-92BF-10863167F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8375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https://tz-11-turklub-tropa-phi.vercel.app/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65509A-E835-41B5-87A0-C9F498B8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4725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B6F8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B6F8F"/>
                </a:solidFill>
                <a:latin typeface="Arial"/>
                <a:ea typeface="Arial"/>
                <a:cs typeface="Arial"/>
              </a:rPr>
              <a:t>GitHub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8000D3-2E4F-428B-91BF-8D86C9C9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https://github.com/Resolushh/tz-11-turklub-tropa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018D58-EA0E-42F8-8E38-30B3DDFD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91175"/>
            <a:ext cx="762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2697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26975"/>
                </a:solidFill>
                <a:latin typeface="Arial"/>
                <a:ea typeface="Arial"/>
                <a:cs typeface="Arial"/>
              </a:rPr>
              <a:t>Версия для доработки перед защитой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72F246-BA58-4C5E-8119-DF22C14ABE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8ccdf4fc0a4a51"/>
          <a:stretch xmlns:a="http://schemas.openxmlformats.org/drawingml/2006/main"/>
        </p:blipFill>
        <p:spPr>
          <a:xfrm xmlns:a="http://schemas.openxmlformats.org/drawingml/2006/main">
            <a:off x="9429750" y="3619500"/>
            <a:ext cx="2000250" cy="20002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F95987-65BD-4EE0-BF81-B203D620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762625"/>
            <a:ext cx="2762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B6F8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B6F8F"/>
                </a:solidFill>
                <a:latin typeface="Arial"/>
                <a:ea typeface="Arial"/>
                <a:cs typeface="Arial"/>
              </a:rPr>
              <a:t>QR на репозиторий</a:t>
            </a:r>
          </a:p>
        </p:txBody>
      </p:sp>
    </p:spTree>
    <p:extLst>
      <p:ext uri="{BB962C8B-B14F-4D97-AF65-F5344CB8AC3E}">
        <p14:creationId xmlns:p14="http://schemas.microsoft.com/office/powerpoint/2010/main" val="13353993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2026-10-27T20:02:41.1600000Z</dcterms:created>
  <dcterms:modified xsi:type="dcterms:W3CDTF">2026-10-27T20:02:41.1600000Z</dcterms:modified>
</coreProperties>
</file>